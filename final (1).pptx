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0"/>
  </p:notesMasterIdLst>
  <p:sldIdLst>
    <p:sldId id="283" r:id="rId2"/>
    <p:sldId id="257" r:id="rId3"/>
    <p:sldId id="282" r:id="rId4"/>
    <p:sldId id="259" r:id="rId5"/>
    <p:sldId id="287" r:id="rId6"/>
    <p:sldId id="288" r:id="rId7"/>
    <p:sldId id="278" r:id="rId8"/>
    <p:sldId id="273" r:id="rId9"/>
    <p:sldId id="262" r:id="rId10"/>
    <p:sldId id="281" r:id="rId11"/>
    <p:sldId id="284" r:id="rId12"/>
    <p:sldId id="279" r:id="rId13"/>
    <p:sldId id="285" r:id="rId14"/>
    <p:sldId id="286" r:id="rId15"/>
    <p:sldId id="280" r:id="rId16"/>
    <p:sldId id="277"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ridhar Ramamurthy" userId="f13d199bd9420ca7" providerId="LiveId" clId="{E377C66F-60CD-4167-809A-E42636AD5DC6}"/>
    <pc:docChg chg="custSel modSld">
      <pc:chgData name="Giridhar Ramamurthy" userId="f13d199bd9420ca7" providerId="LiveId" clId="{E377C66F-60CD-4167-809A-E42636AD5DC6}" dt="2026-01-30T05:49:11.455" v="32" actId="404"/>
      <pc:docMkLst>
        <pc:docMk/>
      </pc:docMkLst>
      <pc:sldChg chg="addSp modSp mod">
        <pc:chgData name="Giridhar Ramamurthy" userId="f13d199bd9420ca7" providerId="LiveId" clId="{E377C66F-60CD-4167-809A-E42636AD5DC6}" dt="2026-01-30T05:36:27.758" v="18" actId="14100"/>
        <pc:sldMkLst>
          <pc:docMk/>
          <pc:sldMk cId="0" sldId="262"/>
        </pc:sldMkLst>
        <pc:spChg chg="add mod">
          <ac:chgData name="Giridhar Ramamurthy" userId="f13d199bd9420ca7" providerId="LiveId" clId="{E377C66F-60CD-4167-809A-E42636AD5DC6}" dt="2026-01-30T05:35:42.213" v="12" actId="208"/>
          <ac:spMkLst>
            <pc:docMk/>
            <pc:sldMk cId="0" sldId="262"/>
            <ac:spMk id="2" creationId="{AF110BD1-395C-6A34-E1A7-A904BC24BC0F}"/>
          </ac:spMkLst>
        </pc:spChg>
        <pc:spChg chg="add mod">
          <ac:chgData name="Giridhar Ramamurthy" userId="f13d199bd9420ca7" providerId="LiveId" clId="{E377C66F-60CD-4167-809A-E42636AD5DC6}" dt="2026-01-30T05:36:27.758" v="18" actId="14100"/>
          <ac:spMkLst>
            <pc:docMk/>
            <pc:sldMk cId="0" sldId="262"/>
            <ac:spMk id="4" creationId="{593A7792-9B53-C7D1-B0E2-2B12C580469F}"/>
          </ac:spMkLst>
        </pc:spChg>
      </pc:sldChg>
      <pc:sldChg chg="addSp modSp mod">
        <pc:chgData name="Giridhar Ramamurthy" userId="f13d199bd9420ca7" providerId="LiveId" clId="{E377C66F-60CD-4167-809A-E42636AD5DC6}" dt="2026-01-30T05:49:11.455" v="32" actId="404"/>
        <pc:sldMkLst>
          <pc:docMk/>
          <pc:sldMk cId="0" sldId="277"/>
        </pc:sldMkLst>
        <pc:spChg chg="add mod">
          <ac:chgData name="Giridhar Ramamurthy" userId="f13d199bd9420ca7" providerId="LiveId" clId="{E377C66F-60CD-4167-809A-E42636AD5DC6}" dt="2026-01-30T05:49:11.455" v="32" actId="404"/>
          <ac:spMkLst>
            <pc:docMk/>
            <pc:sldMk cId="0" sldId="277"/>
            <ac:spMk id="2" creationId="{5F29CD98-B78F-CE5B-4164-1CA2BF962A4A}"/>
          </ac:spMkLst>
        </pc:spChg>
        <pc:spChg chg="mod">
          <ac:chgData name="Giridhar Ramamurthy" userId="f13d199bd9420ca7" providerId="LiveId" clId="{E377C66F-60CD-4167-809A-E42636AD5DC6}" dt="2026-01-30T05:46:52.786" v="22" actId="20577"/>
          <ac:spMkLst>
            <pc:docMk/>
            <pc:sldMk cId="0" sldId="277"/>
            <ac:spMk id="279" creationId="{00000000-0000-0000-0000-000000000000}"/>
          </ac:spMkLst>
        </pc:spChg>
      </pc:sldChg>
      <pc:sldChg chg="modSp mod">
        <pc:chgData name="Giridhar Ramamurthy" userId="f13d199bd9420ca7" providerId="LiveId" clId="{E377C66F-60CD-4167-809A-E42636AD5DC6}" dt="2026-01-30T05:33:56.770" v="9" actId="5793"/>
        <pc:sldMkLst>
          <pc:docMk/>
          <pc:sldMk cId="0" sldId="281"/>
        </pc:sldMkLst>
        <pc:spChg chg="mod">
          <ac:chgData name="Giridhar Ramamurthy" userId="f13d199bd9420ca7" providerId="LiveId" clId="{E377C66F-60CD-4167-809A-E42636AD5DC6}" dt="2026-01-30T05:33:56.770" v="9" actId="5793"/>
          <ac:spMkLst>
            <pc:docMk/>
            <pc:sldMk cId="0" sldId="281"/>
            <ac:spMk id="2" creationId="{00000000-0000-0000-0000-000000000000}"/>
          </ac:spMkLst>
        </pc:spChg>
      </pc:sldChg>
      <pc:sldChg chg="addSp delSp modSp mod">
        <pc:chgData name="Giridhar Ramamurthy" userId="f13d199bd9420ca7" providerId="LiveId" clId="{E377C66F-60CD-4167-809A-E42636AD5DC6}" dt="2026-01-30T05:33:27.656" v="7" actId="1076"/>
        <pc:sldMkLst>
          <pc:docMk/>
          <pc:sldMk cId="0" sldId="284"/>
        </pc:sldMkLst>
        <pc:picChg chg="del">
          <ac:chgData name="Giridhar Ramamurthy" userId="f13d199bd9420ca7" providerId="LiveId" clId="{E377C66F-60CD-4167-809A-E42636AD5DC6}" dt="2026-01-30T05:32:33.923" v="0" actId="478"/>
          <ac:picMkLst>
            <pc:docMk/>
            <pc:sldMk cId="0" sldId="284"/>
            <ac:picMk id="3" creationId="{EBDFC534-D277-74E0-C12A-6AD68281D099}"/>
          </ac:picMkLst>
        </pc:picChg>
        <pc:picChg chg="add del mod">
          <ac:chgData name="Giridhar Ramamurthy" userId="f13d199bd9420ca7" providerId="LiveId" clId="{E377C66F-60CD-4167-809A-E42636AD5DC6}" dt="2026-01-30T05:32:41.789" v="2" actId="478"/>
          <ac:picMkLst>
            <pc:docMk/>
            <pc:sldMk cId="0" sldId="284"/>
            <ac:picMk id="4" creationId="{424A913C-37E0-8C26-6380-471E09E94D73}"/>
          </ac:picMkLst>
        </pc:picChg>
        <pc:picChg chg="add del mod">
          <ac:chgData name="Giridhar Ramamurthy" userId="f13d199bd9420ca7" providerId="LiveId" clId="{E377C66F-60CD-4167-809A-E42636AD5DC6}" dt="2026-01-30T05:33:03.055" v="4" actId="478"/>
          <ac:picMkLst>
            <pc:docMk/>
            <pc:sldMk cId="0" sldId="284"/>
            <ac:picMk id="7" creationId="{6C32C411-A929-5863-6F02-DC8B96EC93ED}"/>
          </ac:picMkLst>
        </pc:picChg>
        <pc:picChg chg="add mod">
          <ac:chgData name="Giridhar Ramamurthy" userId="f13d199bd9420ca7" providerId="LiveId" clId="{E377C66F-60CD-4167-809A-E42636AD5DC6}" dt="2026-01-30T05:33:27.656" v="7" actId="1076"/>
          <ac:picMkLst>
            <pc:docMk/>
            <pc:sldMk cId="0" sldId="284"/>
            <ac:picMk id="9" creationId="{DC41DF45-60DB-F9DE-C8DA-D734DC0F9D5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2002713"/>
            <a:ext cx="10515600" cy="2852737"/>
          </a:xfrm>
        </p:spPr>
        <p:txBody>
          <a:bodyPr>
            <a:normAutofit/>
          </a:bodyPr>
          <a:lstStyle/>
          <a:p>
            <a:pPr algn="ctr"/>
            <a:r>
              <a:rPr lang="en-US" dirty="0"/>
              <a:t>Agentic AI Hackathon: Building Intelligent Agents with IBM Granite and </a:t>
            </a:r>
            <a:r>
              <a:rPr lang="en-US" dirty="0" err="1"/>
              <a:t>LangFlow</a:t>
            </a:r>
          </a:p>
        </p:txBody>
      </p:sp>
      <p:sp>
        <p:nvSpPr>
          <p:cNvPr id="3" name="Text Placeholder 2"/>
          <p:cNvSpPr>
            <a:spLocks noGrp="1"/>
          </p:cNvSpPr>
          <p:nvPr>
            <p:ph type="body" idx="1"/>
          </p:nvPr>
        </p:nvSpPr>
        <p:spPr>
          <a:xfrm>
            <a:off x="1014730" y="3903663"/>
            <a:ext cx="10515600" cy="1500187"/>
          </a:xfrm>
        </p:spPr>
        <p:txBody>
          <a:bodyPr/>
          <a:lstStyle/>
          <a:p>
            <a:pPr algn="ctr"/>
            <a:endParaRPr lang="en-US" b="1" i="1" dirty="0"/>
          </a:p>
        </p:txBody>
      </p:sp>
      <p:pic>
        <p:nvPicPr>
          <p:cNvPr id="4" name="Picture 3"/>
          <p:cNvPicPr>
            <a:picLocks noChangeAspect="1"/>
          </p:cNvPicPr>
          <p:nvPr/>
        </p:nvPicPr>
        <p:blipFill>
          <a:blip r:embed="rId2"/>
          <a:stretch>
            <a:fillRect/>
          </a:stretch>
        </p:blipFill>
        <p:spPr>
          <a:xfrm>
            <a:off x="335797" y="6315517"/>
            <a:ext cx="11520407" cy="3100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94" name="Google Shape;94;p2"/>
          <p:cNvSpPr txBox="1"/>
          <p:nvPr/>
        </p:nvSpPr>
        <p:spPr>
          <a:xfrm>
            <a:off x="2078990" y="503555"/>
            <a:ext cx="8354060" cy="8826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panose="02020503050405090304"/>
              <a:buNone/>
            </a:pPr>
            <a:r>
              <a:rPr lang="en-US" sz="3500" b="1" i="0" u="none" strike="noStrike" cap="none" dirty="0">
                <a:solidFill>
                  <a:srgbClr val="002060"/>
                </a:solidFill>
                <a:latin typeface="Times New Roman" panose="02020503050405090304"/>
                <a:ea typeface="Times New Roman" panose="02020503050405090304"/>
                <a:cs typeface="Times New Roman" panose="02020503050405090304"/>
                <a:sym typeface="Times New Roman" panose="02020503050405090304"/>
              </a:rPr>
              <a:t>Name of the team:  CodeBLUE Agents </a:t>
            </a:r>
            <a:endParaRPr dirty="0"/>
          </a:p>
        </p:txBody>
      </p:sp>
      <p:sp>
        <p:nvSpPr>
          <p:cNvPr id="95" name="Google Shape;95;p2"/>
          <p:cNvSpPr txBox="1"/>
          <p:nvPr/>
        </p:nvSpPr>
        <p:spPr>
          <a:xfrm>
            <a:off x="2190457" y="930435"/>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503050405090304"/>
              <a:buNone/>
            </a:pPr>
            <a:r>
              <a:rPr lang="en-US" sz="3200" b="1" i="0" u="none" strike="noStrike" cap="none" dirty="0">
                <a:solidFill>
                  <a:srgbClr val="002060"/>
                </a:solidFill>
                <a:latin typeface="Times New Roman" panose="02020503050405090304"/>
                <a:ea typeface="Times New Roman" panose="02020503050405090304"/>
                <a:cs typeface="Times New Roman" panose="02020503050405090304"/>
                <a:sym typeface="Times New Roman" panose="02020503050405090304"/>
              </a:rPr>
              <a:t>Details of Team members</a:t>
            </a:r>
            <a:endParaRPr sz="3200" b="1" i="0" u="none" strike="noStrike" cap="none" dirty="0">
              <a:solidFill>
                <a:srgbClr val="002060"/>
              </a:solidFill>
              <a:latin typeface="Times New Roman" panose="02020503050405090304"/>
              <a:ea typeface="Times New Roman" panose="02020503050405090304"/>
              <a:cs typeface="Times New Roman" panose="02020503050405090304"/>
              <a:sym typeface="Times New Roman" panose="02020503050405090304"/>
            </a:endParaRPr>
          </a:p>
        </p:txBody>
      </p:sp>
      <p:graphicFrame>
        <p:nvGraphicFramePr>
          <p:cNvPr id="96" name="Google Shape;96;p2"/>
          <p:cNvGraphicFramePr/>
          <p:nvPr/>
        </p:nvGraphicFramePr>
        <p:xfrm>
          <a:off x="1187450" y="1736090"/>
          <a:ext cx="9889490" cy="4408170"/>
        </p:xfrm>
        <a:graphic>
          <a:graphicData uri="http://schemas.openxmlformats.org/drawingml/2006/table">
            <a:tbl>
              <a:tblPr>
                <a:noFill/>
                <a:tableStyleId>{0AAD8F4D-43EB-41E5-8A38-28AB6DFB1B60}</a:tableStyleId>
              </a:tblPr>
              <a:tblGrid>
                <a:gridCol w="2174240">
                  <a:extLst>
                    <a:ext uri="{9D8B030D-6E8A-4147-A177-3AD203B41FA5}">
                      <a16:colId xmlns:a16="http://schemas.microsoft.com/office/drawing/2014/main" val="20000"/>
                    </a:ext>
                  </a:extLst>
                </a:gridCol>
                <a:gridCol w="2473960">
                  <a:extLst>
                    <a:ext uri="{9D8B030D-6E8A-4147-A177-3AD203B41FA5}">
                      <a16:colId xmlns:a16="http://schemas.microsoft.com/office/drawing/2014/main" val="20001"/>
                    </a:ext>
                  </a:extLst>
                </a:gridCol>
                <a:gridCol w="3286760">
                  <a:extLst>
                    <a:ext uri="{9D8B030D-6E8A-4147-A177-3AD203B41FA5}">
                      <a16:colId xmlns:a16="http://schemas.microsoft.com/office/drawing/2014/main" val="20002"/>
                    </a:ext>
                  </a:extLst>
                </a:gridCol>
                <a:gridCol w="1954530">
                  <a:extLst>
                    <a:ext uri="{9D8B030D-6E8A-4147-A177-3AD203B41FA5}">
                      <a16:colId xmlns:a16="http://schemas.microsoft.com/office/drawing/2014/main" val="20003"/>
                    </a:ext>
                  </a:extLst>
                </a:gridCol>
              </a:tblGrid>
              <a:tr h="1052830">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32840">
                <a:tc>
                  <a:txBody>
                    <a:bodyPr/>
                    <a:lstStyle/>
                    <a:p>
                      <a:pPr marL="0" marR="0" lvl="0" indent="0" algn="l" rtl="0">
                        <a:spcBef>
                          <a:spcPts val="0"/>
                        </a:spcBef>
                        <a:spcAft>
                          <a:spcPts val="0"/>
                        </a:spcAft>
                        <a:buNone/>
                      </a:pPr>
                      <a:r>
                        <a:rPr lang="en-US" sz="1600" dirty="0"/>
                        <a:t>Aarush Ajay</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6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600"/>
                        <a:t>aarushajay.bs23@bmsce.ac.in</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600" dirty="0"/>
                        <a:t>7259644069</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104265">
                <a:tc>
                  <a:txBody>
                    <a:bodyPr/>
                    <a:lstStyle/>
                    <a:p>
                      <a:pPr marL="0" marR="0" lvl="0" indent="0" algn="l" rtl="0">
                        <a:spcBef>
                          <a:spcPts val="0"/>
                        </a:spcBef>
                        <a:spcAft>
                          <a:spcPts val="0"/>
                        </a:spcAft>
                        <a:buNone/>
                      </a:pPr>
                      <a:r>
                        <a:rPr lang="en-US" sz="1600"/>
                        <a:t>Asitha Ramesh</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6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US" sz="1600"/>
                        <a:t>asitharamesh.bs23@bmsce.ac.in</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US" sz="1600"/>
                        <a:t>9902312205</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1118235">
                <a:tc>
                  <a:txBody>
                    <a:bodyPr/>
                    <a:lstStyle/>
                    <a:p>
                      <a:pPr marL="0" marR="0" lvl="0" indent="0" algn="l" rtl="0">
                        <a:spcBef>
                          <a:spcPts val="0"/>
                        </a:spcBef>
                        <a:spcAft>
                          <a:spcPts val="0"/>
                        </a:spcAft>
                        <a:buNone/>
                      </a:pPr>
                      <a:r>
                        <a:rPr lang="en-US" sz="1600"/>
                        <a:t>Shreyaa G</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6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600">
                          <a:sym typeface="+mn-ea"/>
                        </a:rPr>
                        <a:t>shreyaag.bs23@bmsce.ac.in</a:t>
                      </a:r>
                      <a:endParaRPr lang="en-US" sz="1600"/>
                    </a:p>
                    <a:p>
                      <a:pPr marL="0" marR="0" lvl="0" indent="0" algn="l" rtl="0">
                        <a:spcBef>
                          <a:spcPts val="0"/>
                        </a:spcBef>
                        <a:spcAft>
                          <a:spcPts val="0"/>
                        </a:spcAft>
                        <a:buNone/>
                      </a:pPr>
                      <a:endParaRPr lang="en-US" sz="16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600" dirty="0"/>
                        <a:t>9900382133</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p:cNvPicPr>
            <a:picLocks noChangeAspect="1"/>
          </p:cNvPicPr>
          <p:nvPr/>
        </p:nvPicPr>
        <p:blipFill>
          <a:blip r:embed="rId3"/>
          <a:stretch>
            <a:fillRect/>
          </a:stretch>
        </p:blipFill>
        <p:spPr>
          <a:xfrm>
            <a:off x="335797" y="6315517"/>
            <a:ext cx="11520407" cy="310052"/>
          </a:xfrm>
          <a:prstGeom prst="rect">
            <a:avLst/>
          </a:prstGeom>
        </p:spPr>
      </p:pic>
      <p:pic>
        <p:nvPicPr>
          <p:cNvPr id="3" name="Picture 2" descr="WhatsApp Image 2026-01-29 at 9.23.55 PM"/>
          <p:cNvPicPr>
            <a:picLocks noChangeAspect="1"/>
          </p:cNvPicPr>
          <p:nvPr/>
        </p:nvPicPr>
        <p:blipFill>
          <a:blip r:embed="rId4"/>
          <a:stretch>
            <a:fillRect/>
          </a:stretch>
        </p:blipFill>
        <p:spPr>
          <a:xfrm>
            <a:off x="4048125" y="5024755"/>
            <a:ext cx="843280" cy="1119505"/>
          </a:xfrm>
          <a:prstGeom prst="rect">
            <a:avLst/>
          </a:prstGeom>
        </p:spPr>
      </p:pic>
      <p:pic>
        <p:nvPicPr>
          <p:cNvPr id="5" name="Picture 4" descr="WhatsApp Image 2026-01-29 at 9.29.33 PM"/>
          <p:cNvPicPr>
            <a:picLocks noChangeAspect="1"/>
          </p:cNvPicPr>
          <p:nvPr/>
        </p:nvPicPr>
        <p:blipFill>
          <a:blip r:embed="rId5"/>
          <a:stretch>
            <a:fillRect/>
          </a:stretch>
        </p:blipFill>
        <p:spPr>
          <a:xfrm>
            <a:off x="4048125" y="3917315"/>
            <a:ext cx="861060" cy="1107440"/>
          </a:xfrm>
          <a:prstGeom prst="rect">
            <a:avLst/>
          </a:prstGeom>
        </p:spPr>
      </p:pic>
      <p:pic>
        <p:nvPicPr>
          <p:cNvPr id="6" name="Picture 5" descr="WhatsApp Image 2026-01-29 at 9.52.40 PM"/>
          <p:cNvPicPr>
            <a:picLocks noChangeAspect="1"/>
          </p:cNvPicPr>
          <p:nvPr/>
        </p:nvPicPr>
        <p:blipFill>
          <a:blip r:embed="rId6"/>
          <a:stretch>
            <a:fillRect/>
          </a:stretch>
        </p:blipFill>
        <p:spPr>
          <a:xfrm>
            <a:off x="4048125" y="2798445"/>
            <a:ext cx="953135" cy="11188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804672" y="1188720"/>
            <a:ext cx="7616952" cy="306705"/>
          </a:xfrm>
          <a:prstGeom prst="rect">
            <a:avLst/>
          </a:prstGeom>
          <a:noFill/>
        </p:spPr>
        <p:txBody>
          <a:bodyPr wrap="square" rtlCol="0">
            <a:spAutoFit/>
          </a:bodyPr>
          <a:lstStyle/>
          <a:p>
            <a:endParaRPr lang="en-IN" dirty="0"/>
          </a:p>
        </p:txBody>
      </p:sp>
      <p:sp>
        <p:nvSpPr>
          <p:cNvPr id="3" name="TextBox 2"/>
          <p:cNvSpPr txBox="1"/>
          <p:nvPr/>
        </p:nvSpPr>
        <p:spPr>
          <a:xfrm>
            <a:off x="804421" y="29021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Problem statement </a:t>
            </a:r>
          </a:p>
        </p:txBody>
      </p:sp>
      <p:pic>
        <p:nvPicPr>
          <p:cNvPr id="5" name="Picture 4"/>
          <p:cNvPicPr>
            <a:picLocks noChangeAspect="1"/>
          </p:cNvPicPr>
          <p:nvPr/>
        </p:nvPicPr>
        <p:blipFill>
          <a:blip r:embed="rId3"/>
          <a:stretch>
            <a:fillRect/>
          </a:stretch>
        </p:blipFill>
        <p:spPr>
          <a:xfrm>
            <a:off x="335797" y="6315517"/>
            <a:ext cx="11520407" cy="310052"/>
          </a:xfrm>
          <a:prstGeom prst="rect">
            <a:avLst/>
          </a:prstGeom>
        </p:spPr>
      </p:pic>
      <p:sp>
        <p:nvSpPr>
          <p:cNvPr id="4" name="Text Box 3"/>
          <p:cNvSpPr txBox="1"/>
          <p:nvPr/>
        </p:nvSpPr>
        <p:spPr>
          <a:xfrm>
            <a:off x="804545" y="902335"/>
            <a:ext cx="10903585" cy="5262245"/>
          </a:xfrm>
          <a:prstGeom prst="rect">
            <a:avLst/>
          </a:prstGeom>
          <a:noFill/>
        </p:spPr>
        <p:txBody>
          <a:bodyPr wrap="square" rtlCol="0">
            <a:spAutoFit/>
          </a:bodyPr>
          <a:lstStyle/>
          <a:p>
            <a:r>
              <a:rPr lang="en-US" altLang="en-US" sz="1600" b="1">
                <a:latin typeface="Arial Bold" panose="020B0604020202090204" charset="0"/>
                <a:cs typeface="Arial Bold" panose="020B0604020202090204" charset="0"/>
              </a:rPr>
              <a:t>Chronic Disease Management Assistant</a:t>
            </a:r>
          </a:p>
          <a:p>
            <a:endParaRPr lang="en-US" altLang="en-US" sz="1600"/>
          </a:p>
          <a:p>
            <a:r>
              <a:rPr lang="en-US" altLang="en-US" sz="1600" b="1">
                <a:latin typeface="Arial Bold" panose="020B0604020202090204" charset="0"/>
                <a:cs typeface="Arial Bold" panose="020B0604020202090204" charset="0"/>
              </a:rPr>
              <a:t>The Challenge</a:t>
            </a:r>
          </a:p>
          <a:p>
            <a:r>
              <a:rPr lang="en-US" altLang="en-US" sz="1600"/>
              <a:t>Patients with chronic conditions such as diabetes, hypertension, and asthma generate daily health data through self-monitoring devices and logs. Healthcare professionals cannot continuously analyze this growing volume of patient-generated data due to time and resource constraints. As a result, early warning signs of health deterioration may be missed, leading to delayed interventions and increased risk of complications. There is a need for an intelligent assistive system that can continuously analyze health logs and support proactive chronic disease management.</a:t>
            </a:r>
          </a:p>
          <a:p>
            <a:endParaRPr lang="en-US" altLang="en-US" sz="1600"/>
          </a:p>
          <a:p>
            <a:r>
              <a:rPr lang="en-US" altLang="en-US" sz="1600" b="1">
                <a:latin typeface="Arial Bold" panose="020B0604020202090204" charset="0"/>
                <a:cs typeface="Arial Bold" panose="020B0604020202090204" charset="0"/>
              </a:rPr>
              <a:t>Health Data Analysis Agent</a:t>
            </a:r>
          </a:p>
          <a:p>
            <a:r>
              <a:rPr lang="en-US" altLang="en-US" sz="1600"/>
              <a:t>An agent that ingests daily patient health data such as blood glucose levels, blood pressure readings, peak flow values, and medication adherence logs, and organizes them into meaningful health trends.</a:t>
            </a:r>
          </a:p>
          <a:p>
            <a:endParaRPr lang="en-US" altLang="en-US" sz="1600"/>
          </a:p>
          <a:p>
            <a:r>
              <a:rPr lang="en-US" altLang="en-US" sz="1600" b="1">
                <a:latin typeface="Arial Bold" panose="020B0604020202090204" charset="0"/>
                <a:cs typeface="Arial Bold" panose="020B0604020202090204" charset="0"/>
              </a:rPr>
              <a:t>Risk Trend Detection Agent</a:t>
            </a:r>
          </a:p>
          <a:p>
            <a:r>
              <a:rPr lang="en-US" altLang="en-US" sz="1600"/>
              <a:t>An agent that analyzes short-term and long-term health trends to identify abnormal patterns or potential deterioration using clinical thresholds and historical data.</a:t>
            </a:r>
          </a:p>
          <a:p>
            <a:endParaRPr lang="en-US" altLang="en-US" sz="1600"/>
          </a:p>
          <a:p>
            <a:r>
              <a:rPr lang="en-US" altLang="en-US" sz="1600" b="1">
                <a:latin typeface="Arial Bold" panose="020B0604020202090204" charset="0"/>
                <a:cs typeface="Arial Bold" panose="020B0604020202090204" charset="0"/>
              </a:rPr>
              <a:t>Alert &amp; Lifestyle Recommendation Assistant</a:t>
            </a:r>
          </a:p>
          <a:p>
            <a:r>
              <a:rPr lang="en-US" altLang="en-US" sz="1600"/>
              <a:t>An agent that generates early warning alerts and provides lifestyle and care recommendations aligned with clinical best practices (assistive only, non-diagnostic).</a:t>
            </a:r>
          </a:p>
          <a:p>
            <a:endParaRPr lang="en-US" altLang="en-US"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panose="02020503050405090304"/>
              <a:buNone/>
            </a:pP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 name="TextBox 1"/>
          <p:cNvSpPr txBox="1"/>
          <p:nvPr/>
        </p:nvSpPr>
        <p:spPr>
          <a:xfrm>
            <a:off x="1005840" y="1584325"/>
            <a:ext cx="10050780" cy="3969385"/>
          </a:xfrm>
          <a:prstGeom prst="rect">
            <a:avLst/>
          </a:prstGeom>
          <a:noFill/>
        </p:spPr>
        <p:txBody>
          <a:bodyPr wrap="square" rtlCol="0">
            <a:spAutoFit/>
          </a:bodyPr>
          <a:lstStyle/>
          <a:p>
            <a:r>
              <a:rPr lang="en-US" altLang="en-US" sz="1800" dirty="0"/>
              <a:t>This is an Agentic AI system built on IBM Granite that transforms raw patient data into actionable health insights.</a:t>
            </a:r>
          </a:p>
          <a:p>
            <a:endParaRPr lang="en-US" altLang="en-US" sz="1800" dirty="0"/>
          </a:p>
          <a:p>
            <a:pPr marL="285750" indent="-285750">
              <a:buFont typeface="Arial" panose="020B0604020202090204" pitchFamily="34" charset="0"/>
              <a:buChar char="•"/>
            </a:pPr>
            <a:r>
              <a:rPr lang="en-US" altLang="en-US" sz="1800" b="1" dirty="0">
                <a:latin typeface="Arial Bold" panose="020B0604020202090204" charset="0"/>
                <a:cs typeface="Arial Bold" panose="020B0604020202090204" charset="0"/>
              </a:rPr>
              <a:t>Multi-Agent Architecture:</a:t>
            </a:r>
            <a:r>
              <a:rPr lang="en-US" altLang="en-US" sz="1800" dirty="0"/>
              <a:t> Uses a chain of specialized agents to summarize data, detect clinical risks, and provide guidance.</a:t>
            </a:r>
          </a:p>
          <a:p>
            <a:pPr marL="285750" indent="-285750">
              <a:buFont typeface="Arial" panose="020B0604020202090204" pitchFamily="34" charset="0"/>
              <a:buChar char="•"/>
            </a:pPr>
            <a:endParaRPr lang="en-US" altLang="en-US" sz="1800" dirty="0"/>
          </a:p>
          <a:p>
            <a:pPr marL="285750" indent="-285750">
              <a:buFont typeface="Arial" panose="020B0604020202090204" pitchFamily="34" charset="0"/>
              <a:buChar char="•"/>
            </a:pPr>
            <a:r>
              <a:rPr lang="en-US" altLang="en-US" sz="1800" b="1" dirty="0">
                <a:latin typeface="Arial Bold" panose="020B0604020202090204" charset="0"/>
                <a:cs typeface="Arial Bold" panose="020B0604020202090204" charset="0"/>
              </a:rPr>
              <a:t>Rule-Based Logic:</a:t>
            </a:r>
            <a:r>
              <a:rPr lang="en-US" altLang="en-US" sz="1800" dirty="0"/>
              <a:t> Integrates medical thresholds (e.g., blood pressure ≥ 140/90) with Generative AI to ensure objective monitoring.</a:t>
            </a:r>
          </a:p>
          <a:p>
            <a:pPr marL="285750" indent="-285750">
              <a:buFont typeface="Arial" panose="020B0604020202090204" pitchFamily="34" charset="0"/>
              <a:buChar char="•"/>
            </a:pPr>
            <a:endParaRPr lang="en-US" altLang="en-US" sz="1800" dirty="0"/>
          </a:p>
          <a:p>
            <a:pPr marL="285750" indent="-285750">
              <a:buFont typeface="Arial" panose="020B0604020202090204" pitchFamily="34" charset="0"/>
              <a:buChar char="•"/>
            </a:pPr>
            <a:r>
              <a:rPr lang="en-US" altLang="en-US" sz="1800" b="1" dirty="0">
                <a:latin typeface="Arial Bold" panose="020B0604020202090204" charset="0"/>
                <a:cs typeface="Arial Bold" panose="020B0604020202090204" charset="0"/>
              </a:rPr>
              <a:t>Non-Diagnostic Guidance:</a:t>
            </a:r>
            <a:r>
              <a:rPr lang="en-US" altLang="en-US" sz="1800" dirty="0"/>
              <a:t> Delivers early-warning alerts and lifestyle advice grounded in clinical guidelines via RAG (Retrieval-Augmented Generation).</a:t>
            </a:r>
          </a:p>
          <a:p>
            <a:pPr marL="285750" indent="-285750">
              <a:buFont typeface="Arial" panose="020B0604020202090204" pitchFamily="34" charset="0"/>
              <a:buChar char="•"/>
            </a:pPr>
            <a:endParaRPr lang="en-US" altLang="en-US" sz="1800" dirty="0"/>
          </a:p>
          <a:p>
            <a:pPr marL="285750" indent="-285750">
              <a:buFont typeface="Arial" panose="020B0604020202090204" pitchFamily="34" charset="0"/>
              <a:buChar char="•"/>
            </a:pPr>
            <a:r>
              <a:rPr lang="en-US" altLang="en-US" sz="1800" b="1" dirty="0">
                <a:latin typeface="Arial Bold" panose="020B0604020202090204" charset="0"/>
                <a:cs typeface="Arial Bold" panose="020B0604020202090204" charset="0"/>
              </a:rPr>
              <a:t>Real-Time Processing:</a:t>
            </a:r>
            <a:r>
              <a:rPr lang="en-US" altLang="en-US" sz="1800" dirty="0"/>
              <a:t> Converts daily logs into explainable trends, reducing the time between health deterioration and clinical intervention.</a:t>
            </a:r>
          </a:p>
        </p:txBody>
      </p:sp>
      <p:sp>
        <p:nvSpPr>
          <p:cNvPr id="3" name="TextBox 2"/>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Proposed solution </a:t>
            </a:r>
          </a:p>
        </p:txBody>
      </p:sp>
      <p:pic>
        <p:nvPicPr>
          <p:cNvPr id="5" name="Picture 4"/>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panose="02020503050405090304"/>
              <a:buNone/>
            </a:pP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 name="TextBox 1"/>
          <p:cNvSpPr txBox="1"/>
          <p:nvPr/>
        </p:nvSpPr>
        <p:spPr>
          <a:xfrm>
            <a:off x="1005840" y="1584325"/>
            <a:ext cx="9652000" cy="3784600"/>
          </a:xfrm>
          <a:prstGeom prst="rect">
            <a:avLst/>
          </a:prstGeom>
          <a:noFill/>
        </p:spPr>
        <p:txBody>
          <a:bodyPr wrap="square" rtlCol="0">
            <a:spAutoFit/>
          </a:bodyPr>
          <a:lstStyle/>
          <a:p>
            <a:pPr marL="342900" indent="-342900">
              <a:buFont typeface="Arial" panose="020B0604020202090204" pitchFamily="34" charset="0"/>
              <a:buChar char="•"/>
            </a:pPr>
            <a:r>
              <a:rPr lang="en-US" altLang="en-US" sz="2000" b="1" dirty="0">
                <a:latin typeface="Arial Bold" panose="020B0604020202090204" charset="0"/>
                <a:cs typeface="Arial Bold" panose="020B0604020202090204" charset="0"/>
              </a:rPr>
              <a:t>Combatting "Data Fatigue": </a:t>
            </a:r>
            <a:r>
              <a:rPr lang="en-US" altLang="en-US" sz="2000" dirty="0"/>
              <a:t>Healthcare providers cannot manually review the millions of data points generated daily by patient self-monitoring devices.</a:t>
            </a:r>
          </a:p>
          <a:p>
            <a:pPr marL="342900" indent="-342900">
              <a:buFont typeface="Arial" panose="020B0604020202090204" pitchFamily="34" charset="0"/>
              <a:buChar char="•"/>
            </a:pPr>
            <a:endParaRPr lang="en-US" altLang="en-US" sz="2000" dirty="0"/>
          </a:p>
          <a:p>
            <a:pPr marL="342900" indent="-342900">
              <a:buFont typeface="Arial" panose="020B0604020202090204" pitchFamily="34" charset="0"/>
              <a:buChar char="•"/>
            </a:pPr>
            <a:r>
              <a:rPr lang="en-US" altLang="en-US" sz="2000" b="1" dirty="0">
                <a:latin typeface="Arial Bold" panose="020B0604020202090204" charset="0"/>
                <a:cs typeface="Arial Bold" panose="020B0604020202090204" charset="0"/>
              </a:rPr>
              <a:t>Early Intervention:</a:t>
            </a:r>
            <a:r>
              <a:rPr lang="en-US" altLang="en-US" sz="2000" dirty="0"/>
              <a:t> Bridges the gap between doctor visits by identifying silent worsening of conditions (like rising glucose levels) before they become emergencies.</a:t>
            </a:r>
          </a:p>
          <a:p>
            <a:pPr marL="342900" indent="-342900">
              <a:buFont typeface="Arial" panose="020B0604020202090204" pitchFamily="34" charset="0"/>
              <a:buChar char="•"/>
            </a:pPr>
            <a:endParaRPr lang="en-US" altLang="en-US" sz="2000" dirty="0"/>
          </a:p>
          <a:p>
            <a:pPr marL="342900" indent="-342900">
              <a:buFont typeface="Arial" panose="020B0604020202090204" pitchFamily="34" charset="0"/>
              <a:buChar char="•"/>
            </a:pPr>
            <a:r>
              <a:rPr lang="en-US" altLang="en-US" sz="2000" b="1" dirty="0">
                <a:latin typeface="Arial Bold" panose="020B0604020202090204" charset="0"/>
                <a:cs typeface="Arial Bold" panose="020B0604020202090204" charset="0"/>
              </a:rPr>
              <a:t>Patient Empowerment:</a:t>
            </a:r>
            <a:r>
              <a:rPr lang="en-US" altLang="en-US" sz="2000" dirty="0"/>
              <a:t> Helps patients understand their own data, explaining why a trend is risky and what lifestyle changes can help.</a:t>
            </a:r>
          </a:p>
          <a:p>
            <a:pPr marL="342900" indent="-342900">
              <a:buFont typeface="Arial" panose="020B0604020202090204" pitchFamily="34" charset="0"/>
              <a:buChar char="•"/>
            </a:pPr>
            <a:endParaRPr lang="en-US" altLang="en-US" sz="2000" dirty="0"/>
          </a:p>
          <a:p>
            <a:pPr marL="342900" indent="-342900">
              <a:buFont typeface="Arial" panose="020B0604020202090204" pitchFamily="34" charset="0"/>
              <a:buChar char="•"/>
            </a:pPr>
            <a:r>
              <a:rPr lang="en-US" altLang="en-US" sz="2000" b="1" dirty="0">
                <a:latin typeface="Arial Bold" panose="020B0604020202090204" charset="0"/>
                <a:cs typeface="Arial Bold" panose="020B0604020202090204" charset="0"/>
              </a:rPr>
              <a:t>Resource Optimization:</a:t>
            </a:r>
            <a:r>
              <a:rPr lang="en-US" altLang="en-US" sz="2000" dirty="0"/>
              <a:t> Reduces hospital readmissions and emergency room visits by enabling proactive, home-based management.</a:t>
            </a:r>
          </a:p>
        </p:txBody>
      </p:sp>
      <p:sp>
        <p:nvSpPr>
          <p:cNvPr id="3" name="TextBox 2"/>
          <p:cNvSpPr txBox="1"/>
          <p:nvPr/>
        </p:nvSpPr>
        <p:spPr>
          <a:xfrm>
            <a:off x="1034441" y="71925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Need of project </a:t>
            </a:r>
          </a:p>
        </p:txBody>
      </p:sp>
      <p:pic>
        <p:nvPicPr>
          <p:cNvPr id="5" name="Picture 4"/>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panose="02020503050405090304"/>
              <a:buNone/>
            </a:pP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 name="TextBox 1"/>
          <p:cNvSpPr txBox="1"/>
          <p:nvPr/>
        </p:nvSpPr>
        <p:spPr>
          <a:xfrm>
            <a:off x="1034415" y="1378585"/>
            <a:ext cx="9639300" cy="3784600"/>
          </a:xfrm>
          <a:prstGeom prst="rect">
            <a:avLst/>
          </a:prstGeom>
          <a:noFill/>
        </p:spPr>
        <p:txBody>
          <a:bodyPr wrap="square" rtlCol="0">
            <a:spAutoFit/>
          </a:bodyPr>
          <a:lstStyle/>
          <a:p>
            <a:pPr marL="285750" indent="-285750">
              <a:buFont typeface="Arial" panose="020B0604020202090204" pitchFamily="34" charset="0"/>
              <a:buChar char="•"/>
            </a:pPr>
            <a:endParaRPr lang="en-US" altLang="en-US" sz="2000" dirty="0"/>
          </a:p>
          <a:p>
            <a:pPr marL="285750" indent="-285750">
              <a:buFont typeface="Arial" panose="020B0604020202090204" pitchFamily="34" charset="0"/>
              <a:buChar char="•"/>
            </a:pPr>
            <a:r>
              <a:rPr lang="en-US" altLang="en-US" sz="2000" b="1" dirty="0">
                <a:latin typeface="Arial Bold" panose="020B0604020202090204" charset="0"/>
                <a:cs typeface="Arial Bold" panose="020B0604020202090204" charset="0"/>
              </a:rPr>
              <a:t>Chronic Disease Patients:</a:t>
            </a:r>
            <a:r>
              <a:rPr lang="en-US" altLang="en-US" sz="2000" dirty="0"/>
              <a:t> Individuals managing Diabetes, Hypertension, or Asthma who need daily feedback on their self-monitoring logs.</a:t>
            </a:r>
          </a:p>
          <a:p>
            <a:pPr marL="285750" indent="-285750">
              <a:buFont typeface="Arial" panose="020B0604020202090204" pitchFamily="34" charset="0"/>
              <a:buChar char="•"/>
            </a:pPr>
            <a:endParaRPr lang="en-US" altLang="en-US" sz="2000" dirty="0"/>
          </a:p>
          <a:p>
            <a:pPr marL="285750" indent="-285750">
              <a:buFont typeface="Arial" panose="020B0604020202090204" pitchFamily="34" charset="0"/>
              <a:buChar char="•"/>
            </a:pPr>
            <a:r>
              <a:rPr lang="en-US" altLang="en-US" sz="2000" b="1" dirty="0">
                <a:latin typeface="Arial Bold" panose="020B0604020202090204" charset="0"/>
                <a:cs typeface="Arial Bold" panose="020B0604020202090204" charset="0"/>
              </a:rPr>
              <a:t>Family Caregivers:</a:t>
            </a:r>
            <a:r>
              <a:rPr lang="en-US" altLang="en-US" sz="2000" dirty="0"/>
              <a:t> People monitoring the health of elderly parents or children who require an "early warning system" for peace of mind.</a:t>
            </a:r>
          </a:p>
          <a:p>
            <a:pPr marL="285750" indent="-285750">
              <a:buFont typeface="Arial" panose="020B0604020202090204" pitchFamily="34" charset="0"/>
              <a:buChar char="•"/>
            </a:pPr>
            <a:endParaRPr lang="en-US" altLang="en-US" sz="2000" dirty="0"/>
          </a:p>
          <a:p>
            <a:pPr marL="285750" indent="-285750">
              <a:buFont typeface="Arial" panose="020B0604020202090204" pitchFamily="34" charset="0"/>
              <a:buChar char="•"/>
            </a:pPr>
            <a:r>
              <a:rPr lang="en-US" altLang="en-US" sz="2000" b="1" dirty="0">
                <a:latin typeface="Arial Bold" panose="020B0604020202090204" charset="0"/>
                <a:cs typeface="Arial Bold" panose="020B0604020202090204" charset="0"/>
              </a:rPr>
              <a:t>Healthcare Providers: </a:t>
            </a:r>
            <a:r>
              <a:rPr lang="en-US" altLang="en-US" sz="2000" dirty="0"/>
              <a:t>Doctors and nurses who need a summarized, high-priority "Risk Dashboard" instead of scrolling through thousands of raw logs.</a:t>
            </a:r>
          </a:p>
          <a:p>
            <a:pPr marL="285750" indent="-285750">
              <a:buFont typeface="Arial" panose="020B0604020202090204" pitchFamily="34" charset="0"/>
              <a:buChar char="•"/>
            </a:pPr>
            <a:endParaRPr lang="en-US" altLang="en-US" sz="2000" dirty="0"/>
          </a:p>
          <a:p>
            <a:pPr marL="285750" indent="-285750">
              <a:buFont typeface="Arial" panose="020B0604020202090204" pitchFamily="34" charset="0"/>
              <a:buChar char="•"/>
            </a:pPr>
            <a:r>
              <a:rPr lang="en-US" altLang="en-US" sz="2000" b="1" dirty="0">
                <a:latin typeface="Arial Bold" panose="020B0604020202090204" charset="0"/>
                <a:cs typeface="Arial Bold" panose="020B0604020202090204" charset="0"/>
              </a:rPr>
              <a:t>Health Coaches/Wellness Programs:</a:t>
            </a:r>
            <a:r>
              <a:rPr lang="en-US" altLang="en-US" sz="2000" dirty="0"/>
              <a:t> Professionals looking for automated tools to support patient adherence and lifestyle modification.</a:t>
            </a:r>
          </a:p>
        </p:txBody>
      </p:sp>
      <p:sp>
        <p:nvSpPr>
          <p:cNvPr id="3" name="TextBox 2"/>
          <p:cNvSpPr txBox="1"/>
          <p:nvPr/>
        </p:nvSpPr>
        <p:spPr>
          <a:xfrm>
            <a:off x="1034441" y="731315"/>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End user of project</a:t>
            </a:r>
            <a:endParaRPr lang="en-US" sz="2400" dirty="0"/>
          </a:p>
        </p:txBody>
      </p:sp>
      <p:pic>
        <p:nvPicPr>
          <p:cNvPr id="5" name="Picture 4"/>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p:cNvSpPr txBox="1"/>
          <p:nvPr/>
        </p:nvSpPr>
        <p:spPr>
          <a:xfrm>
            <a:off x="777240" y="1207008"/>
            <a:ext cx="10515600" cy="4184650"/>
          </a:xfrm>
          <a:prstGeom prst="rect">
            <a:avLst/>
          </a:prstGeom>
          <a:noFill/>
        </p:spPr>
        <p:txBody>
          <a:bodyPr wrap="square" rtlCol="0">
            <a:spAutoFit/>
          </a:bodyPr>
          <a:lstStyle/>
          <a:p>
            <a:pPr marL="285750" indent="-285750">
              <a:buFont typeface="Arial" panose="020B0604020202090204" pitchFamily="34" charset="0"/>
              <a:buChar char="•"/>
            </a:pPr>
            <a:r>
              <a:rPr lang="en-US" sz="1800" dirty="0" err="1"/>
              <a:t>Langflow</a:t>
            </a:r>
            <a:r>
              <a:rPr lang="en-US" sz="1800" dirty="0"/>
              <a:t> platform</a:t>
            </a:r>
          </a:p>
          <a:p>
            <a:pPr marL="285750" indent="-285750">
              <a:buFont typeface="Arial" panose="020B0604020202090204" pitchFamily="34" charset="0"/>
              <a:buChar char="•"/>
            </a:pPr>
            <a:endParaRPr lang="en-US" sz="1800" dirty="0"/>
          </a:p>
          <a:p>
            <a:pPr marL="285750" indent="-285750">
              <a:buFont typeface="Arial" panose="020B0604020202090204" pitchFamily="34" charset="0"/>
              <a:buChar char="•"/>
            </a:pPr>
            <a:r>
              <a:rPr lang="en-US" sz="1800" dirty="0" err="1"/>
              <a:t>Langflow</a:t>
            </a:r>
            <a:r>
              <a:rPr lang="en-US" sz="1800" dirty="0"/>
              <a:t> component name –  Agent  , Chat input , Chat output </a:t>
            </a:r>
          </a:p>
          <a:p>
            <a:pPr marL="285750" indent="-285750">
              <a:buFont typeface="Arial" panose="020B0604020202090204" pitchFamily="34" charset="0"/>
              <a:buChar char="•"/>
            </a:pPr>
            <a:endParaRPr lang="en-US" sz="1800" dirty="0"/>
          </a:p>
          <a:p>
            <a:pPr marL="285750" indent="-285750">
              <a:buFont typeface="Arial" panose="020B0604020202090204" pitchFamily="34" charset="0"/>
              <a:buChar char="•"/>
            </a:pPr>
            <a:r>
              <a:rPr lang="en-US" sz="1800" dirty="0"/>
              <a:t>IBM </a:t>
            </a:r>
            <a:r>
              <a:rPr lang="en-US" sz="1800" dirty="0" err="1"/>
              <a:t>Grainte</a:t>
            </a:r>
            <a:r>
              <a:rPr lang="en-US" sz="1800" dirty="0"/>
              <a:t> model -  ibm-granite-3-2-8b   </a:t>
            </a:r>
          </a:p>
          <a:p>
            <a:pPr marL="285750" indent="-285750">
              <a:buFont typeface="Arial" panose="020B0604020202090204" pitchFamily="34" charset="0"/>
              <a:buChar char="•"/>
            </a:pPr>
            <a:endParaRPr lang="en-US" sz="1800" dirty="0"/>
          </a:p>
          <a:p>
            <a:pPr marL="285750" indent="-285750">
              <a:buFont typeface="Arial" panose="020B0604020202090204" pitchFamily="34" charset="0"/>
              <a:buChar char="•"/>
            </a:pPr>
            <a:r>
              <a:rPr lang="en-US" sz="1800" dirty="0"/>
              <a:t>IBM Cloud</a:t>
            </a:r>
          </a:p>
          <a:p>
            <a:pPr marL="285750" indent="-285750">
              <a:buFont typeface="Arial" panose="020B0604020202090204" pitchFamily="34" charset="0"/>
              <a:buChar char="•"/>
            </a:pPr>
            <a:endParaRPr lang="en-US" sz="1800" dirty="0"/>
          </a:p>
          <a:p>
            <a:pPr marL="285750" indent="-285750">
              <a:buFont typeface="Arial" panose="020B0604020202090204" pitchFamily="34" charset="0"/>
              <a:buChar char="•"/>
            </a:pPr>
            <a:r>
              <a:rPr lang="en-US" sz="1800" dirty="0"/>
              <a:t>RAG </a:t>
            </a:r>
          </a:p>
          <a:p>
            <a:pPr marL="285750" indent="-285750">
              <a:buFont typeface="Arial" panose="020B0604020202090204" pitchFamily="34" charset="0"/>
              <a:buChar char="•"/>
            </a:pPr>
            <a:endParaRPr lang="en-US" sz="1800" dirty="0"/>
          </a:p>
          <a:p>
            <a:pPr marL="285750" indent="-285750">
              <a:buFont typeface="Arial" panose="020B0604020202090204" pitchFamily="34" charset="0"/>
              <a:buChar char="•"/>
            </a:pPr>
            <a:r>
              <a:rPr lang="en-US" sz="1800" dirty="0"/>
              <a:t>IBM Watsonx.ai</a:t>
            </a:r>
          </a:p>
          <a:p>
            <a:pPr marL="285750" indent="-285750">
              <a:buFont typeface="Arial" panose="020B0604020202090204" pitchFamily="34" charset="0"/>
              <a:buChar char="•"/>
            </a:pPr>
            <a:endParaRPr lang="en-US" sz="1800" dirty="0"/>
          </a:p>
          <a:p>
            <a:pPr marL="285750" indent="-285750">
              <a:buFont typeface="Arial" panose="020B0604020202090204" pitchFamily="34" charset="0"/>
              <a:buChar char="•"/>
            </a:pPr>
            <a:r>
              <a:rPr lang="en-US" sz="1800" dirty="0" err="1"/>
              <a:t>Watsonx</a:t>
            </a:r>
            <a:endParaRPr lang="en-US" sz="1800" dirty="0"/>
          </a:p>
          <a:p>
            <a:pPr marL="285750" indent="-285750">
              <a:buFont typeface="Arial" panose="020B0604020202090204" pitchFamily="34" charset="0"/>
              <a:buChar char="•"/>
            </a:pPr>
            <a:endParaRPr lang="en-US" sz="1800" dirty="0"/>
          </a:p>
          <a:p>
            <a:pPr marL="285750" indent="-285750">
              <a:buFont typeface="Arial" panose="020B0604020202090204" pitchFamily="34" charset="0"/>
              <a:buChar char="•"/>
            </a:pPr>
            <a:endParaRPr lang="en-IN" dirty="0"/>
          </a:p>
        </p:txBody>
      </p:sp>
      <p:pic>
        <p:nvPicPr>
          <p:cNvPr id="5" name="Picture 4"/>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503050405090304"/>
              <a:buNone/>
            </a:pPr>
            <a:r>
              <a:rPr lang="en-US" sz="3500" b="1" i="0" u="none" strike="noStrike" cap="none" dirty="0">
                <a:solidFill>
                  <a:srgbClr val="051D3A"/>
                </a:solidFill>
                <a:latin typeface="Times New Roman" panose="02020503050405090304"/>
                <a:ea typeface="Times New Roman" panose="02020503050405090304"/>
                <a:cs typeface="Times New Roman" panose="02020503050405090304"/>
                <a:sym typeface="Times New Roman" panose="02020503050405090304"/>
              </a:rPr>
              <a:t>Novelty and Uniqueness</a:t>
            </a:r>
            <a:endParaRPr sz="3500" b="1"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79" name="Google Shape;279;p18"/>
          <p:cNvSpPr/>
          <p:nvPr/>
        </p:nvSpPr>
        <p:spPr>
          <a:xfrm>
            <a:off x="1064260" y="1583690"/>
            <a:ext cx="7468870" cy="3465830"/>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80" name="Google Shape;280;p18"/>
          <p:cNvSpPr/>
          <p:nvPr/>
        </p:nvSpPr>
        <p:spPr>
          <a:xfrm>
            <a:off x="1218724" y="2660000"/>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dirty="0">
                <a:solidFill>
                  <a:srgbClr val="2B3541"/>
                </a:solidFill>
                <a:latin typeface="Times New Roman" panose="02020503050405090304"/>
                <a:ea typeface="Times New Roman" panose="02020503050405090304"/>
                <a:cs typeface="Times New Roman" panose="02020503050405090304"/>
                <a:sym typeface="Times New Roman" panose="02020503050405090304"/>
              </a:rPr>
              <a:t>·</a:t>
            </a: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pic>
        <p:nvPicPr>
          <p:cNvPr id="3" name="Picture 2"/>
          <p:cNvPicPr>
            <a:picLocks noChangeAspect="1"/>
          </p:cNvPicPr>
          <p:nvPr/>
        </p:nvPicPr>
        <p:blipFill>
          <a:blip r:embed="rId3"/>
          <a:stretch>
            <a:fillRect/>
          </a:stretch>
        </p:blipFill>
        <p:spPr>
          <a:xfrm>
            <a:off x="335797" y="6315517"/>
            <a:ext cx="11520407" cy="310052"/>
          </a:xfrm>
          <a:prstGeom prst="rect">
            <a:avLst/>
          </a:prstGeom>
        </p:spPr>
      </p:pic>
      <p:sp>
        <p:nvSpPr>
          <p:cNvPr id="2" name="Text Box 1"/>
          <p:cNvSpPr txBox="1"/>
          <p:nvPr/>
        </p:nvSpPr>
        <p:spPr>
          <a:xfrm>
            <a:off x="1218565" y="1485900"/>
            <a:ext cx="9305925" cy="4523105"/>
          </a:xfrm>
          <a:prstGeom prst="rect">
            <a:avLst/>
          </a:prstGeom>
          <a:noFill/>
        </p:spPr>
        <p:txBody>
          <a:bodyPr wrap="square" rtlCol="0">
            <a:spAutoFit/>
          </a:bodyPr>
          <a:lstStyle/>
          <a:p>
            <a:pPr marL="285750" indent="-285750">
              <a:buFont typeface="Arial" panose="020B0604020202090204" pitchFamily="34" charset="0"/>
              <a:buChar char="•"/>
            </a:pPr>
            <a:r>
              <a:rPr lang="en-US" altLang="en-US" sz="1600" b="1">
                <a:latin typeface="Arial Bold" panose="020B0604020202090204" charset="0"/>
                <a:cs typeface="Arial Bold" panose="020B0604020202090204" charset="0"/>
              </a:rPr>
              <a:t>Multi-Agent Collaborative Reasoning:</a:t>
            </a:r>
            <a:r>
              <a:rPr lang="en-US" altLang="en-US" sz="1600"/>
              <a:t> Instead of one LLM trying to do everything, we use a "Chain of Experts." One agent focuses solely on data trends, while another applies medical rules, ensuring much higher precision.</a:t>
            </a:r>
          </a:p>
          <a:p>
            <a:pPr marL="285750" indent="-285750">
              <a:buFont typeface="Arial" panose="020B0604020202090204" pitchFamily="34" charset="0"/>
              <a:buChar char="•"/>
            </a:pPr>
            <a:endParaRPr lang="en-US" altLang="en-US" sz="1600"/>
          </a:p>
          <a:p>
            <a:pPr marL="285750" indent="-285750">
              <a:buFont typeface="Arial" panose="020B0604020202090204" pitchFamily="34" charset="0"/>
              <a:buChar char="•"/>
            </a:pPr>
            <a:r>
              <a:rPr lang="en-US" altLang="en-US" sz="1600" b="1">
                <a:latin typeface="Arial Bold" panose="020B0604020202090204" charset="0"/>
                <a:cs typeface="Arial Bold" panose="020B0604020202090204" charset="0"/>
              </a:rPr>
              <a:t>Rule-Grounded Generative AI:</a:t>
            </a:r>
            <a:r>
              <a:rPr lang="en-US" altLang="en-US" sz="1600"/>
              <a:t> Unlike standard AI that can be vague, CareWatch combines Generative AI with Hard Clinical Thresholds (e.g., specific blood pressure and glucose numbers). It only triggers alerts when objective medical limits are crossed.</a:t>
            </a:r>
          </a:p>
          <a:p>
            <a:pPr marL="285750" indent="-285750">
              <a:buFont typeface="Arial" panose="020B0604020202090204" pitchFamily="34" charset="0"/>
              <a:buChar char="•"/>
            </a:pPr>
            <a:endParaRPr lang="en-US" altLang="en-US" sz="1600"/>
          </a:p>
          <a:p>
            <a:pPr marL="285750" indent="-285750">
              <a:buFont typeface="Arial" panose="020B0604020202090204" pitchFamily="34" charset="0"/>
              <a:buChar char="•"/>
            </a:pPr>
            <a:r>
              <a:rPr lang="en-US" altLang="en-US" sz="1600" b="1">
                <a:latin typeface="Arial Bold" panose="020B0604020202090204" charset="0"/>
                <a:cs typeface="Arial Bold" panose="020B0604020202090204" charset="0"/>
              </a:rPr>
              <a:t>Explainable Early Warnings:</a:t>
            </a:r>
            <a:r>
              <a:rPr lang="en-US" altLang="en-US" sz="1600"/>
              <a:t> Most monitoring tools just show a graph. CareWatch provides a "Reasoning Layer," telling the patient exactly why they are at risk (e.g., "Your glucose rose 20% over 4 days while you missed 2 medication doses").</a:t>
            </a:r>
          </a:p>
          <a:p>
            <a:pPr marL="285750" indent="-285750">
              <a:buFont typeface="Arial" panose="020B0604020202090204" pitchFamily="34" charset="0"/>
              <a:buChar char="•"/>
            </a:pPr>
            <a:endParaRPr lang="en-US" altLang="en-US" sz="1600"/>
          </a:p>
          <a:p>
            <a:pPr marL="285750" indent="-285750">
              <a:buFont typeface="Arial" panose="020B0604020202090204" pitchFamily="34" charset="0"/>
              <a:buChar char="•"/>
            </a:pPr>
            <a:r>
              <a:rPr lang="en-US" altLang="en-US" sz="1600" b="1">
                <a:latin typeface="Arial Bold" panose="020B0604020202090204" charset="0"/>
                <a:cs typeface="Arial Bold" panose="020B0604020202090204" charset="0"/>
              </a:rPr>
              <a:t>Assistive, Non-Diagnostic Design: </a:t>
            </a:r>
            <a:r>
              <a:rPr lang="en-US" altLang="en-US" sz="1600"/>
              <a:t>It is specifically engineered to be a "Doctor's Assistant," not a "Doctor Replacement." The built-in guardrails and RAG-based context ensure it stays within safe, non-diagnostic boundaries.</a:t>
            </a:r>
          </a:p>
          <a:p>
            <a:pPr marL="285750" indent="-285750">
              <a:buFont typeface="Arial" panose="020B0604020202090204" pitchFamily="34" charset="0"/>
              <a:buChar char="•"/>
            </a:pPr>
            <a:endParaRPr lang="en-US" altLang="en-US" sz="1600"/>
          </a:p>
          <a:p>
            <a:pPr marL="285750" indent="-285750">
              <a:buFont typeface="Arial" panose="020B0604020202090204" pitchFamily="34" charset="0"/>
              <a:buChar char="•"/>
            </a:pPr>
            <a:r>
              <a:rPr lang="en-US" altLang="en-US" sz="1600" b="1">
                <a:latin typeface="Arial Bold" panose="020B0604020202090204" charset="0"/>
                <a:cs typeface="Arial Bold" panose="020B0604020202090204" charset="0"/>
              </a:rPr>
              <a:t>Native IBM Stack Integration:</a:t>
            </a:r>
            <a:r>
              <a:rPr lang="en-US" altLang="en-US" sz="1600"/>
              <a:t> Fully optimized for the IBM ecosystem, leveraging Granite’s unique strengths in enterprise-grade, rule-following tasks within the watsonx environment.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889664" y="335354"/>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dirty="0">
              <a:solidFill>
                <a:schemeClr val="dk1"/>
              </a:solidFill>
            </a:endParaRPr>
          </a:p>
        </p:txBody>
      </p:sp>
      <p:pic>
        <p:nvPicPr>
          <p:cNvPr id="3" name="Picture 2"/>
          <p:cNvPicPr>
            <a:picLocks noChangeAspect="1"/>
          </p:cNvPicPr>
          <p:nvPr/>
        </p:nvPicPr>
        <p:blipFill>
          <a:blip r:embed="rId3"/>
          <a:stretch>
            <a:fillRect/>
          </a:stretch>
        </p:blipFill>
        <p:spPr>
          <a:xfrm>
            <a:off x="335797" y="6315517"/>
            <a:ext cx="11520407" cy="310052"/>
          </a:xfrm>
          <a:prstGeom prst="rect">
            <a:avLst/>
          </a:prstGeom>
        </p:spPr>
      </p:pic>
      <p:sp>
        <p:nvSpPr>
          <p:cNvPr id="5" name="TextBox 4">
            <a:extLst>
              <a:ext uri="{FF2B5EF4-FFF2-40B4-BE49-F238E27FC236}">
                <a16:creationId xmlns:a16="http://schemas.microsoft.com/office/drawing/2014/main" id="{2AF3754C-A3FE-9DE6-69A1-4C7FA38A2326}"/>
              </a:ext>
            </a:extLst>
          </p:cNvPr>
          <p:cNvSpPr txBox="1"/>
          <p:nvPr/>
        </p:nvSpPr>
        <p:spPr>
          <a:xfrm>
            <a:off x="3047215" y="3277468"/>
            <a:ext cx="6094428" cy="307777"/>
          </a:xfrm>
          <a:prstGeom prst="rect">
            <a:avLst/>
          </a:prstGeom>
          <a:noFill/>
        </p:spPr>
        <p:txBody>
          <a:bodyPr wrap="square">
            <a:spAutoFit/>
          </a:bodyPr>
          <a:lstStyle/>
          <a:p>
            <a:endParaRPr lang="en-IN" dirty="0"/>
          </a:p>
        </p:txBody>
      </p:sp>
      <p:sp>
        <p:nvSpPr>
          <p:cNvPr id="6" name="Rectangle 1">
            <a:extLst>
              <a:ext uri="{FF2B5EF4-FFF2-40B4-BE49-F238E27FC236}">
                <a16:creationId xmlns:a16="http://schemas.microsoft.com/office/drawing/2014/main" id="{496049D8-DA42-34BC-F846-C88C9D9A3040}"/>
              </a:ext>
            </a:extLst>
          </p:cNvPr>
          <p:cNvSpPr>
            <a:spLocks noChangeArrowheads="1"/>
          </p:cNvSpPr>
          <p:nvPr/>
        </p:nvSpPr>
        <p:spPr bwMode="auto">
          <a:xfrm>
            <a:off x="0" y="0"/>
            <a:ext cx="8663233" cy="4015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8" name="Picture 7">
            <a:extLst>
              <a:ext uri="{FF2B5EF4-FFF2-40B4-BE49-F238E27FC236}">
                <a16:creationId xmlns:a16="http://schemas.microsoft.com/office/drawing/2014/main" id="{4A9EB242-4063-3925-AB1D-1F7A5B3F7920}"/>
              </a:ext>
            </a:extLst>
          </p:cNvPr>
          <p:cNvPicPr>
            <a:picLocks noChangeAspect="1"/>
          </p:cNvPicPr>
          <p:nvPr/>
        </p:nvPicPr>
        <p:blipFill>
          <a:blip r:embed="rId4"/>
          <a:srcRect t="10797" b="9267"/>
          <a:stretch>
            <a:fillRect/>
          </a:stretch>
        </p:blipFill>
        <p:spPr>
          <a:xfrm>
            <a:off x="1188014" y="899357"/>
            <a:ext cx="10000441" cy="5313781"/>
          </a:xfrm>
          <a:prstGeom prst="rect">
            <a:avLst/>
          </a:prstGeom>
        </p:spPr>
      </p:pic>
      <p:sp>
        <p:nvSpPr>
          <p:cNvPr id="2" name="Rectangle 1">
            <a:extLst>
              <a:ext uri="{FF2B5EF4-FFF2-40B4-BE49-F238E27FC236}">
                <a16:creationId xmlns:a16="http://schemas.microsoft.com/office/drawing/2014/main" id="{AF110BD1-395C-6A34-E1A7-A904BC24BC0F}"/>
              </a:ext>
            </a:extLst>
          </p:cNvPr>
          <p:cNvSpPr/>
          <p:nvPr/>
        </p:nvSpPr>
        <p:spPr>
          <a:xfrm>
            <a:off x="5654040" y="5768340"/>
            <a:ext cx="2560320" cy="6255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593A7792-9B53-C7D1-B0E2-2B12C580469F}"/>
              </a:ext>
            </a:extLst>
          </p:cNvPr>
          <p:cNvSpPr/>
          <p:nvPr/>
        </p:nvSpPr>
        <p:spPr>
          <a:xfrm>
            <a:off x="5356860" y="4191000"/>
            <a:ext cx="3097530" cy="212451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503050405090304"/>
              <a:buNone/>
            </a:pPr>
            <a:r>
              <a:rPr lang="en-US" sz="2400" b="1" i="0" u="none" strike="noStrike" cap="none" err="1">
                <a:solidFill>
                  <a:srgbClr val="051D3A"/>
                </a:solidFill>
                <a:ea typeface="Times New Roman" panose="02020503050405090304"/>
                <a:cs typeface="Times New Roman" panose="02020503050405090304"/>
                <a:sym typeface="Times New Roman" panose="02020503050405090304"/>
              </a:rPr>
              <a:t>Langflow</a:t>
            </a:r>
            <a:r>
              <a:rPr lang="en-US" sz="2400" b="1" i="0" u="none" strike="noStrike" cap="none" dirty="0">
                <a:solidFill>
                  <a:srgbClr val="051D3A"/>
                </a:solidFill>
                <a:ea typeface="Times New Roman" panose="02020503050405090304"/>
                <a:cs typeface="Times New Roman" panose="02020503050405090304"/>
                <a:sym typeface="Times New Roman" panose="02020503050405090304"/>
              </a:rPr>
              <a:t> component Used </a:t>
            </a:r>
            <a:endParaRPr lang="en-US" sz="2400" b="1" i="0" u="none" strike="noStrike" cap="none">
              <a:solidFill>
                <a:srgbClr val="000000"/>
              </a:solidFill>
              <a:ea typeface="Times New Roman" panose="02020503050405090304"/>
              <a:cs typeface="Times New Roman" panose="0202050305040509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a:buNone/>
            </a:pPr>
            <a:endParaRPr sz="16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a:buNone/>
            </a:pPr>
            <a:endParaRPr sz="16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a:buNone/>
            </a:pPr>
            <a:endParaRPr sz="16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a:buNone/>
            </a:pPr>
            <a:endParaRPr sz="16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a:buNone/>
            </a:pPr>
            <a:endParaRPr sz="16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a:buNone/>
            </a:pPr>
            <a:endParaRPr sz="1600" b="0" i="0" u="none" strike="noStrike" cap="none">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 name="TextBox 1"/>
          <p:cNvSpPr txBox="1"/>
          <p:nvPr/>
        </p:nvSpPr>
        <p:spPr>
          <a:xfrm>
            <a:off x="621665" y="906145"/>
            <a:ext cx="11003280" cy="4185761"/>
          </a:xfrm>
          <a:prstGeom prst="rect">
            <a:avLst/>
          </a:prstGeom>
          <a:noFill/>
        </p:spPr>
        <p:txBody>
          <a:bodyPr wrap="square" rtlCol="0">
            <a:spAutoFit/>
          </a:bodyPr>
          <a:lstStyle/>
          <a:p>
            <a:r>
              <a:rPr lang="en-US" altLang="en-US" b="1" dirty="0">
                <a:latin typeface="Arial Bold" panose="020B0604020202090204" charset="0"/>
                <a:cs typeface="Arial Bold" panose="020B0604020202090204" charset="0"/>
              </a:rPr>
              <a:t>1) Chat Input </a:t>
            </a:r>
            <a:r>
              <a:rPr lang="en-US" altLang="en-US" dirty="0"/>
              <a:t>The entry point of the system. It captures the patient's raw health logs (JSON data) and any user queries to start the analysis process.</a:t>
            </a:r>
          </a:p>
          <a:p>
            <a:endParaRPr lang="en-US" altLang="en-US" dirty="0"/>
          </a:p>
          <a:p>
            <a:r>
              <a:rPr lang="en-US" altLang="en-US" b="1" dirty="0">
                <a:latin typeface="Arial Bold" panose="020B0604020202090204" charset="0"/>
                <a:cs typeface="Arial Bold" panose="020B0604020202090204" charset="0"/>
              </a:rPr>
              <a:t>2) IBM watsonx AI Agent </a:t>
            </a:r>
            <a:r>
              <a:rPr lang="en-US" altLang="en-US" dirty="0"/>
              <a:t>The processing engine. It uses the IBM Granite model to reason through data. In this project, multiple agents work in a chain to summarize trends, check clinical rules (e.g., BP thresholds), and generate advice.</a:t>
            </a:r>
          </a:p>
          <a:p>
            <a:endParaRPr lang="en-US" altLang="en-US" dirty="0"/>
          </a:p>
          <a:p>
            <a:r>
              <a:rPr lang="en-US" altLang="en-US" b="1" dirty="0">
                <a:latin typeface="Arial Bold" panose="020B0604020202090204" charset="0"/>
                <a:cs typeface="Arial Bold" panose="020B0604020202090204" charset="0"/>
              </a:rPr>
              <a:t>3)</a:t>
            </a:r>
            <a:r>
              <a:rPr lang="en-US" altLang="en-US" dirty="0"/>
              <a:t> </a:t>
            </a:r>
            <a:r>
              <a:rPr lang="en-US" altLang="en-US" b="1" dirty="0">
                <a:latin typeface="Arial Bold" panose="020B0604020202090204" charset="0"/>
                <a:cs typeface="Arial Bold" panose="020B0604020202090204" charset="0"/>
              </a:rPr>
              <a:t>File Component</a:t>
            </a:r>
            <a:r>
              <a:rPr lang="en-US" altLang="en-US" dirty="0"/>
              <a:t> The knowledge uploader. It allows the system to read external medical guidelines (PDF/Text). This is the foundation of the RAG setup, ensuring the AI's advice is based on facts, not guesses.</a:t>
            </a:r>
          </a:p>
          <a:p>
            <a:endParaRPr lang="en-US" altLang="en-US" dirty="0"/>
          </a:p>
          <a:p>
            <a:r>
              <a:rPr lang="en-US" altLang="en-US" b="1" dirty="0">
                <a:latin typeface="Arial Bold" panose="020B0604020202090204" charset="0"/>
                <a:cs typeface="Arial Bold" panose="020B0604020202090204" charset="0"/>
              </a:rPr>
              <a:t>4)</a:t>
            </a:r>
            <a:r>
              <a:rPr lang="en-US" altLang="en-US" dirty="0"/>
              <a:t> </a:t>
            </a:r>
            <a:r>
              <a:rPr lang="en-US" altLang="en-US" b="1" dirty="0">
                <a:latin typeface="Arial Bold" panose="020B0604020202090204" charset="0"/>
                <a:cs typeface="Arial Bold" panose="020B0604020202090204" charset="0"/>
              </a:rPr>
              <a:t>Chat Output</a:t>
            </a:r>
            <a:r>
              <a:rPr lang="en-US" altLang="en-US" dirty="0"/>
              <a:t> The interface. It displays the final results—such as the Early Warning Alert and Lifestyle Recommendations—in a clean, readable format for the user.</a:t>
            </a:r>
          </a:p>
          <a:p>
            <a:endParaRPr lang="en-US" altLang="en-US" dirty="0"/>
          </a:p>
          <a:p>
            <a:r>
              <a:rPr lang="en-US" altLang="en-US" b="1" dirty="0">
                <a:latin typeface="Arial Bold" panose="020B0604020202090204" charset="0"/>
                <a:cs typeface="Arial Bold" panose="020B0604020202090204" charset="0"/>
              </a:rPr>
              <a:t>5)Other Components Used</a:t>
            </a:r>
          </a:p>
          <a:p>
            <a:endParaRPr lang="en-US" altLang="en-US" dirty="0"/>
          </a:p>
          <a:p>
            <a:pPr marL="285750" indent="-285750">
              <a:buFont typeface="Arial" panose="020B0604020202090204" pitchFamily="34" charset="0"/>
              <a:buChar char="•"/>
            </a:pPr>
            <a:r>
              <a:rPr lang="en-US" altLang="en-US" b="1" dirty="0">
                <a:latin typeface="Arial Bold" panose="020B0604020202090204" charset="0"/>
                <a:cs typeface="Arial Bold" panose="020B0604020202090204" charset="0"/>
              </a:rPr>
              <a:t>IBM watsonx.ai (Model Node)</a:t>
            </a:r>
            <a:r>
              <a:rPr lang="en-US" altLang="en-US" dirty="0"/>
              <a:t>: The connection hub that links Langflow to the Granite-3.2-8b model using your IBM Cloud API credentials.</a:t>
            </a:r>
          </a:p>
          <a:p>
            <a:pPr marL="285750" indent="-285750">
              <a:buFont typeface="Arial" panose="020B0604020202090204" pitchFamily="34" charset="0"/>
              <a:buChar char="•"/>
            </a:pPr>
            <a:endParaRPr lang="en-US" altLang="en-US" dirty="0"/>
          </a:p>
          <a:p>
            <a:pPr marL="285750" indent="-285750">
              <a:buFont typeface="Arial" panose="020B0604020202090204" pitchFamily="34" charset="0"/>
              <a:buChar char="•"/>
            </a:pPr>
            <a:r>
              <a:rPr lang="en-US" altLang="en-US" b="1" dirty="0">
                <a:latin typeface="Arial Bold" panose="020B0604020202090204" charset="0"/>
                <a:cs typeface="Arial Bold" panose="020B0604020202090204" charset="0"/>
              </a:rPr>
              <a:t>Prompt Template: </a:t>
            </a:r>
            <a:r>
              <a:rPr lang="en-US" altLang="en-US" dirty="0"/>
              <a:t>The instruction set that tells the agents exactly how to behave (e.g., "Analyze this data as a medical assistant").</a:t>
            </a:r>
          </a:p>
          <a:p>
            <a:endParaRPr lang="en-US" altLang="en-US" dirty="0"/>
          </a:p>
        </p:txBody>
      </p:sp>
      <p:pic>
        <p:nvPicPr>
          <p:cNvPr id="4" name="Picture 3"/>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TextBox 1"/>
          <p:cNvSpPr txBox="1"/>
          <p:nvPr/>
        </p:nvSpPr>
        <p:spPr>
          <a:xfrm>
            <a:off x="629337" y="175145"/>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Input Screenshot 1</a:t>
            </a:r>
          </a:p>
        </p:txBody>
      </p:sp>
      <p:pic>
        <p:nvPicPr>
          <p:cNvPr id="5" name="Picture 4"/>
          <p:cNvPicPr>
            <a:picLocks noChangeAspect="1"/>
          </p:cNvPicPr>
          <p:nvPr/>
        </p:nvPicPr>
        <p:blipFill>
          <a:blip r:embed="rId3"/>
          <a:stretch>
            <a:fillRect/>
          </a:stretch>
        </p:blipFill>
        <p:spPr>
          <a:xfrm>
            <a:off x="335797" y="6315517"/>
            <a:ext cx="11520407" cy="310052"/>
          </a:xfrm>
          <a:prstGeom prst="rect">
            <a:avLst/>
          </a:prstGeom>
        </p:spPr>
      </p:pic>
      <p:pic>
        <p:nvPicPr>
          <p:cNvPr id="9" name="Picture 8">
            <a:extLst>
              <a:ext uri="{FF2B5EF4-FFF2-40B4-BE49-F238E27FC236}">
                <a16:creationId xmlns:a16="http://schemas.microsoft.com/office/drawing/2014/main" id="{DC41DF45-60DB-F9DE-C8DA-D734DC0F9D56}"/>
              </a:ext>
            </a:extLst>
          </p:cNvPr>
          <p:cNvPicPr>
            <a:picLocks noChangeAspect="1"/>
          </p:cNvPicPr>
          <p:nvPr/>
        </p:nvPicPr>
        <p:blipFill>
          <a:blip r:embed="rId4"/>
          <a:stretch>
            <a:fillRect/>
          </a:stretch>
        </p:blipFill>
        <p:spPr>
          <a:xfrm>
            <a:off x="629337" y="733675"/>
            <a:ext cx="11168021" cy="54849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TextBox 1"/>
          <p:cNvSpPr txBox="1"/>
          <p:nvPr/>
        </p:nvSpPr>
        <p:spPr>
          <a:xfrm>
            <a:off x="838779" y="398224"/>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Input Screenshot 2</a:t>
            </a:r>
            <a:endParaRPr lang="en-US" dirty="0"/>
          </a:p>
        </p:txBody>
      </p:sp>
      <p:pic>
        <p:nvPicPr>
          <p:cNvPr id="5" name="Picture 4"/>
          <p:cNvPicPr>
            <a:picLocks noChangeAspect="1"/>
          </p:cNvPicPr>
          <p:nvPr/>
        </p:nvPicPr>
        <p:blipFill>
          <a:blip r:embed="rId3"/>
          <a:stretch>
            <a:fillRect/>
          </a:stretch>
        </p:blipFill>
        <p:spPr>
          <a:xfrm>
            <a:off x="335797" y="6315517"/>
            <a:ext cx="11520407" cy="310052"/>
          </a:xfrm>
          <a:prstGeom prst="rect">
            <a:avLst/>
          </a:prstGeom>
        </p:spPr>
      </p:pic>
      <p:pic>
        <p:nvPicPr>
          <p:cNvPr id="4" name="Picture 3" descr="WhatsApp Image 2026-01-29 at 9.32.30 PM"/>
          <p:cNvPicPr>
            <a:picLocks noChangeAspect="1"/>
          </p:cNvPicPr>
          <p:nvPr/>
        </p:nvPicPr>
        <p:blipFill>
          <a:blip r:embed="rId4"/>
          <a:srcRect r="28399"/>
          <a:stretch>
            <a:fillRect/>
          </a:stretch>
        </p:blipFill>
        <p:spPr>
          <a:xfrm>
            <a:off x="1823720" y="1160780"/>
            <a:ext cx="7506970" cy="45358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TextBox 1"/>
          <p:cNvSpPr txBox="1"/>
          <p:nvPr/>
        </p:nvSpPr>
        <p:spPr>
          <a:xfrm>
            <a:off x="889425" y="3802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Output Screenshot 1</a:t>
            </a:r>
            <a:endParaRPr lang="en-US" dirty="0"/>
          </a:p>
        </p:txBody>
      </p:sp>
      <p:pic>
        <p:nvPicPr>
          <p:cNvPr id="5" name="Picture 4"/>
          <p:cNvPicPr>
            <a:picLocks noChangeAspect="1"/>
          </p:cNvPicPr>
          <p:nvPr/>
        </p:nvPicPr>
        <p:blipFill>
          <a:blip r:embed="rId3"/>
          <a:stretch>
            <a:fillRect/>
          </a:stretch>
        </p:blipFill>
        <p:spPr>
          <a:xfrm>
            <a:off x="335797" y="6315517"/>
            <a:ext cx="11520407" cy="310052"/>
          </a:xfrm>
          <a:prstGeom prst="rect">
            <a:avLst/>
          </a:prstGeom>
        </p:spPr>
      </p:pic>
      <p:pic>
        <p:nvPicPr>
          <p:cNvPr id="4" name="Picture 3" descr="WhatsApp Image 2026-01-29 at 9.35.18 PM"/>
          <p:cNvPicPr>
            <a:picLocks noChangeAspect="1"/>
          </p:cNvPicPr>
          <p:nvPr/>
        </p:nvPicPr>
        <p:blipFill>
          <a:blip r:embed="rId4"/>
          <a:stretch>
            <a:fillRect/>
          </a:stretch>
        </p:blipFill>
        <p:spPr>
          <a:xfrm>
            <a:off x="1278255" y="999490"/>
            <a:ext cx="9444355" cy="51587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TextBox 1"/>
          <p:cNvSpPr txBox="1"/>
          <p:nvPr/>
        </p:nvSpPr>
        <p:spPr>
          <a:xfrm>
            <a:off x="869259" y="456009"/>
            <a:ext cx="4622285" cy="4603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Ouput Screenshot 2</a:t>
            </a:r>
            <a:endParaRPr lang="en-US" dirty="0"/>
          </a:p>
        </p:txBody>
      </p:sp>
      <p:pic>
        <p:nvPicPr>
          <p:cNvPr id="5" name="Picture 4"/>
          <p:cNvPicPr>
            <a:picLocks noChangeAspect="1"/>
          </p:cNvPicPr>
          <p:nvPr/>
        </p:nvPicPr>
        <p:blipFill>
          <a:blip r:embed="rId3"/>
          <a:stretch>
            <a:fillRect/>
          </a:stretch>
        </p:blipFill>
        <p:spPr>
          <a:xfrm>
            <a:off x="335797" y="6315517"/>
            <a:ext cx="11520407" cy="310052"/>
          </a:xfrm>
          <a:prstGeom prst="rect">
            <a:avLst/>
          </a:prstGeom>
        </p:spPr>
      </p:pic>
      <p:pic>
        <p:nvPicPr>
          <p:cNvPr id="4" name="Picture 3" descr="WhatsApp Image 2026-01-29 at 9.35.50 PM"/>
          <p:cNvPicPr>
            <a:picLocks noChangeAspect="1"/>
          </p:cNvPicPr>
          <p:nvPr/>
        </p:nvPicPr>
        <p:blipFill>
          <a:blip r:embed="rId4"/>
          <a:stretch>
            <a:fillRect/>
          </a:stretch>
        </p:blipFill>
        <p:spPr>
          <a:xfrm>
            <a:off x="1555115" y="1011555"/>
            <a:ext cx="8639810" cy="50939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503050405090304"/>
              <a:buNone/>
            </a:pPr>
            <a:r>
              <a:rPr lang="en-US" sz="3500" b="1" i="0" u="none" strike="noStrike" cap="none" dirty="0">
                <a:solidFill>
                  <a:srgbClr val="051D3A"/>
                </a:solidFill>
                <a:latin typeface="Times New Roman" panose="02020503050405090304"/>
                <a:ea typeface="Times New Roman" panose="02020503050405090304"/>
                <a:cs typeface="Times New Roman" panose="02020503050405090304"/>
                <a:sym typeface="Times New Roman" panose="02020503050405090304"/>
              </a:rPr>
              <a:t>Future Scope </a:t>
            </a:r>
            <a:endParaRPr sz="3500" b="1"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79" name="Google Shape;279;p18"/>
          <p:cNvSpPr/>
          <p:nvPr/>
        </p:nvSpPr>
        <p:spPr>
          <a:xfrm>
            <a:off x="955675" y="1393825"/>
            <a:ext cx="9541510" cy="4276725"/>
          </a:xfrm>
          <a:prstGeom prst="rect">
            <a:avLst/>
          </a:prstGeom>
          <a:noFill/>
          <a:ln>
            <a:noFill/>
          </a:ln>
        </p:spPr>
        <p:txBody>
          <a:bodyPr spcFirstLastPara="1" wrap="square" lIns="0" tIns="0" rIns="0" bIns="0" anchor="t" anchorCtr="0">
            <a:noAutofit/>
          </a:bodyPr>
          <a:lstStyle/>
          <a:p>
            <a:pPr marL="342900" marR="0" lvl="0" indent="-342900" algn="l" rtl="0">
              <a:lnSpc>
                <a:spcPct val="162000"/>
              </a:lnSpc>
              <a:spcBef>
                <a:spcPts val="0"/>
              </a:spcBef>
              <a:spcAft>
                <a:spcPts val="0"/>
              </a:spcAft>
              <a:buClr>
                <a:srgbClr val="2B3541"/>
              </a:buClr>
              <a:buSzPts val="1850"/>
              <a:buFont typeface="Arial" panose="020B0604020202090204" pitchFamily="34" charset="0"/>
              <a:buChar char="•"/>
            </a:pPr>
            <a:r>
              <a:rPr lang="en-US" altLang="en-US" sz="1850" b="1" i="0" u="none" strike="noStrike" cap="none" dirty="0">
                <a:solidFill>
                  <a:srgbClr val="000000"/>
                </a:solidFill>
                <a:latin typeface="Times New Roman Bold" panose="02020503050405090304" charset="0"/>
                <a:ea typeface="Times New Roman" panose="02020503050405090304"/>
                <a:cs typeface="Times New Roman Bold" panose="02020503050405090304" charset="0"/>
                <a:sym typeface="Times New Roman" panose="02020503050405090304"/>
              </a:rPr>
              <a:t>Real-Time Wearable Syncing:</a:t>
            </a:r>
            <a:r>
              <a:rPr lang="en-US" altLang="en-US"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 Automating data collection by integrating with CGMs, smartwatches, and inhalers to eliminate manual logging and capture "invisible" health metrics.</a:t>
            </a:r>
          </a:p>
          <a:p>
            <a:pPr marL="342900" marR="0" lvl="0" indent="-342900" algn="l" rtl="0">
              <a:lnSpc>
                <a:spcPct val="162000"/>
              </a:lnSpc>
              <a:spcBef>
                <a:spcPts val="0"/>
              </a:spcBef>
              <a:spcAft>
                <a:spcPts val="0"/>
              </a:spcAft>
              <a:buClr>
                <a:srgbClr val="2B3541"/>
              </a:buClr>
              <a:buSzPts val="1850"/>
              <a:buFont typeface="Arial" panose="020B0604020202090204" pitchFamily="34" charset="0"/>
              <a:buChar char="•"/>
            </a:pPr>
            <a:r>
              <a:rPr lang="en-US" altLang="en-US" sz="1850" b="1" i="0" u="none" strike="noStrike" cap="none" dirty="0">
                <a:solidFill>
                  <a:srgbClr val="000000"/>
                </a:solidFill>
                <a:latin typeface="Times New Roman Bold" panose="02020503050405090304" charset="0"/>
                <a:ea typeface="Times New Roman" panose="02020503050405090304"/>
                <a:cs typeface="Times New Roman Bold" panose="02020503050405090304" charset="0"/>
                <a:sym typeface="Times New Roman" panose="02020503050405090304"/>
              </a:rPr>
              <a:t>Predictive AI Forecasting</a:t>
            </a:r>
            <a:r>
              <a:rPr lang="en-US" altLang="en-US"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 Shifting from reactive alerts to proactive forecasting, using IBM Granite to predict health crises (like hypertensive spikes) before they occur based on sleep and stress trends.</a:t>
            </a:r>
          </a:p>
          <a:p>
            <a:pPr marL="342900" marR="0" lvl="0" indent="-342900" algn="l" rtl="0">
              <a:lnSpc>
                <a:spcPct val="162000"/>
              </a:lnSpc>
              <a:spcBef>
                <a:spcPts val="0"/>
              </a:spcBef>
              <a:spcAft>
                <a:spcPts val="0"/>
              </a:spcAft>
              <a:buClr>
                <a:srgbClr val="2B3541"/>
              </a:buClr>
              <a:buSzPts val="1850"/>
              <a:buFont typeface="Arial" panose="020B0604020202090204" pitchFamily="34" charset="0"/>
              <a:buChar char="•"/>
            </a:pPr>
            <a:r>
              <a:rPr lang="en-US" altLang="en-US" sz="1850" b="1" i="0" u="none" strike="noStrike" cap="none" dirty="0">
                <a:solidFill>
                  <a:srgbClr val="000000"/>
                </a:solidFill>
                <a:latin typeface="Times New Roman Bold" panose="02020503050405090304" charset="0"/>
                <a:ea typeface="Times New Roman" panose="02020503050405090304"/>
                <a:cs typeface="Times New Roman Bold" panose="02020503050405090304" charset="0"/>
                <a:sym typeface="Times New Roman" panose="02020503050405090304"/>
              </a:rPr>
              <a:t>Automated Clinician Triage:</a:t>
            </a:r>
            <a:r>
              <a:rPr lang="en-US" altLang="en-US"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 Creating a direct link to healthcare providers that automatically flags high-risk patients, allowing doctors to prioritize those in urgent need of intervention.</a:t>
            </a:r>
          </a:p>
          <a:p>
            <a:pPr marL="342900" marR="0" lvl="0" indent="-342900" algn="l" rtl="0">
              <a:lnSpc>
                <a:spcPct val="162000"/>
              </a:lnSpc>
              <a:spcBef>
                <a:spcPts val="0"/>
              </a:spcBef>
              <a:spcAft>
                <a:spcPts val="0"/>
              </a:spcAft>
              <a:buClr>
                <a:srgbClr val="2B3541"/>
              </a:buClr>
              <a:buSzPts val="1850"/>
              <a:buFont typeface="Arial" panose="020B0604020202090204" pitchFamily="34" charset="0"/>
              <a:buChar char="•"/>
            </a:pPr>
            <a:r>
              <a:rPr lang="en-US" altLang="en-US" sz="1850" b="1" i="0" u="none" strike="noStrike" cap="none" dirty="0">
                <a:solidFill>
                  <a:srgbClr val="000000"/>
                </a:solidFill>
                <a:latin typeface="Times New Roman Bold" panose="02020503050405090304" charset="0"/>
                <a:ea typeface="Times New Roman" panose="02020503050405090304"/>
                <a:cs typeface="Times New Roman Bold" panose="02020503050405090304" charset="0"/>
                <a:sym typeface="Times New Roman" panose="02020503050405090304"/>
              </a:rPr>
              <a:t>Environmental Trigger Analysis:</a:t>
            </a:r>
            <a:r>
              <a:rPr lang="en-US" altLang="en-US"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 Incorporating external data like air quality and pollen counts to warn patients when environmental factors might aggravate their specific condition.</a:t>
            </a: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pic>
        <p:nvPicPr>
          <p:cNvPr id="3" name="Picture 2"/>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503050405090304"/>
              <a:buNone/>
            </a:pPr>
            <a:r>
              <a:rPr lang="en-US" sz="3500" b="1" i="0" u="none" strike="noStrike" cap="none" dirty="0">
                <a:solidFill>
                  <a:srgbClr val="051D3A"/>
                </a:solidFill>
                <a:latin typeface="Times New Roman" panose="02020503050405090304"/>
                <a:ea typeface="Times New Roman" panose="02020503050405090304"/>
                <a:cs typeface="Times New Roman" panose="02020503050405090304"/>
                <a:sym typeface="Times New Roman" panose="02020503050405090304"/>
              </a:rPr>
              <a:t>Git Hub Link</a:t>
            </a:r>
            <a:endParaRPr sz="3500" b="1"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79" name="Google Shape;279;p18"/>
          <p:cNvSpPr/>
          <p:nvPr/>
        </p:nvSpPr>
        <p:spPr>
          <a:xfrm>
            <a:off x="1218724" y="1461513"/>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dirty="0">
                <a:solidFill>
                  <a:srgbClr val="2B3541"/>
                </a:solidFill>
                <a:latin typeface="Times New Roman" panose="02020503050405090304"/>
                <a:ea typeface="Times New Roman" panose="02020503050405090304"/>
                <a:cs typeface="Times New Roman" panose="02020503050405090304"/>
                <a:sym typeface="Times New Roman" panose="02020503050405090304"/>
              </a:rPr>
              <a:t>·</a:t>
            </a: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dirty="0">
                <a:solidFill>
                  <a:srgbClr val="2B3541"/>
                </a:solidFill>
                <a:latin typeface="Times New Roman" panose="02020503050405090304"/>
                <a:ea typeface="Times New Roman" panose="02020503050405090304"/>
                <a:cs typeface="Times New Roman" panose="02020503050405090304"/>
                <a:sym typeface="Times New Roman" panose="02020503050405090304"/>
              </a:rPr>
              <a:t>·</a:t>
            </a: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dirty="0">
                <a:solidFill>
                  <a:srgbClr val="2B3541"/>
                </a:solidFill>
                <a:latin typeface="Times New Roman" panose="02020503050405090304"/>
                <a:ea typeface="Times New Roman" panose="02020503050405090304"/>
                <a:cs typeface="Times New Roman" panose="02020503050405090304"/>
                <a:sym typeface="Times New Roman" panose="02020503050405090304"/>
              </a:rPr>
              <a:t>·</a:t>
            </a: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pic>
        <p:nvPicPr>
          <p:cNvPr id="3" name="Picture 2"/>
          <p:cNvPicPr>
            <a:picLocks noChangeAspect="1"/>
          </p:cNvPicPr>
          <p:nvPr/>
        </p:nvPicPr>
        <p:blipFill>
          <a:blip r:embed="rId3"/>
          <a:stretch>
            <a:fillRect/>
          </a:stretch>
        </p:blipFill>
        <p:spPr>
          <a:xfrm>
            <a:off x="335797" y="6315517"/>
            <a:ext cx="11520407" cy="310052"/>
          </a:xfrm>
          <a:prstGeom prst="rect">
            <a:avLst/>
          </a:prstGeom>
        </p:spPr>
      </p:pic>
      <p:sp>
        <p:nvSpPr>
          <p:cNvPr id="2" name="TextBox 1">
            <a:extLst>
              <a:ext uri="{FF2B5EF4-FFF2-40B4-BE49-F238E27FC236}">
                <a16:creationId xmlns:a16="http://schemas.microsoft.com/office/drawing/2014/main" id="{5F29CD98-B78F-CE5B-4164-1CA2BF962A4A}"/>
              </a:ext>
            </a:extLst>
          </p:cNvPr>
          <p:cNvSpPr txBox="1"/>
          <p:nvPr/>
        </p:nvSpPr>
        <p:spPr>
          <a:xfrm>
            <a:off x="1123121" y="1542599"/>
            <a:ext cx="8517836" cy="369332"/>
          </a:xfrm>
          <a:prstGeom prst="rect">
            <a:avLst/>
          </a:prstGeom>
          <a:noFill/>
        </p:spPr>
        <p:txBody>
          <a:bodyPr wrap="square" rtlCol="0">
            <a:spAutoFit/>
          </a:bodyPr>
          <a:lstStyle/>
          <a:p>
            <a:r>
              <a:rPr lang="en-IN" sz="1800" dirty="0"/>
              <a:t>https://github.com/Aarush-Ajay/Chronic-Disease-Management-Assistant.git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a:lnSpc>
                <a:spcPct val="157000"/>
              </a:lnSpc>
            </a:pPr>
            <a:r>
              <a:rPr lang="en-US" sz="3500" b="1" dirty="0">
                <a:solidFill>
                  <a:srgbClr val="051D3A"/>
                </a:solidFill>
                <a:latin typeface="Times New Roman" panose="02020503050405090304"/>
                <a:cs typeface="Times New Roman" panose="02020503050405090304"/>
                <a:sym typeface="Times New Roman" panose="02020503050405090304"/>
              </a:rPr>
              <a:t>References </a:t>
            </a:r>
            <a:endParaRPr lang="en-US" dirty="0"/>
          </a:p>
        </p:txBody>
      </p:sp>
      <p:sp>
        <p:nvSpPr>
          <p:cNvPr id="279" name="Google Shape;279;p18"/>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lvl="0">
              <a:lnSpc>
                <a:spcPct val="162000"/>
              </a:lnSpc>
              <a:buClr>
                <a:srgbClr val="2B3541"/>
              </a:buClr>
              <a:buSzPts val="1850"/>
            </a:pPr>
            <a:endParaRPr lang="en-US" sz="1850" dirty="0">
              <a:solidFill>
                <a:srgbClr val="2B354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endParaRPr lang="en-US" sz="1850" dirty="0">
              <a:solidFill>
                <a:srgbClr val="2B354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dirty="0">
                <a:solidFill>
                  <a:srgbClr val="2B3541"/>
                </a:solidFill>
                <a:latin typeface="Times New Roman" panose="02020503050405090304"/>
                <a:ea typeface="Times New Roman" panose="02020503050405090304"/>
                <a:cs typeface="Times New Roman" panose="02020503050405090304"/>
                <a:sym typeface="Times New Roman" panose="02020503050405090304"/>
              </a:rPr>
              <a:t> </a:t>
            </a: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dirty="0">
                <a:solidFill>
                  <a:srgbClr val="2B3541"/>
                </a:solidFill>
                <a:latin typeface="Times New Roman" panose="02020503050405090304"/>
                <a:ea typeface="Times New Roman" panose="02020503050405090304"/>
                <a:cs typeface="Times New Roman" panose="02020503050405090304"/>
                <a:sym typeface="Times New Roman" panose="02020503050405090304"/>
              </a:rPr>
              <a:t>·</a:t>
            </a: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dirty="0">
                <a:solidFill>
                  <a:srgbClr val="2B3541"/>
                </a:solidFill>
                <a:latin typeface="Times New Roman" panose="02020503050405090304"/>
                <a:ea typeface="Times New Roman" panose="02020503050405090304"/>
                <a:cs typeface="Times New Roman" panose="02020503050405090304"/>
                <a:sym typeface="Times New Roman" panose="02020503050405090304"/>
              </a:rPr>
              <a:t>·</a:t>
            </a: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503050405090304"/>
              <a:buNone/>
            </a:pPr>
            <a:r>
              <a:rPr lang="en-US" sz="1850" b="0" i="0" u="none" strike="noStrike" cap="none" dirty="0">
                <a:solidFill>
                  <a:srgbClr val="2B3541"/>
                </a:solidFill>
                <a:latin typeface="Times New Roman" panose="02020503050405090304"/>
                <a:ea typeface="Times New Roman" panose="02020503050405090304"/>
                <a:cs typeface="Times New Roman" panose="02020503050405090304"/>
                <a:sym typeface="Times New Roman" panose="02020503050405090304"/>
              </a:rPr>
              <a:t>·</a:t>
            </a:r>
            <a:endParaRPr sz="1850" b="0" i="0" u="none" strike="noStrike" cap="non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p:txBody>
      </p:sp>
      <p:pic>
        <p:nvPicPr>
          <p:cNvPr id="3" name="Picture 2"/>
          <p:cNvPicPr>
            <a:picLocks noChangeAspect="1"/>
          </p:cNvPicPr>
          <p:nvPr/>
        </p:nvPicPr>
        <p:blipFill>
          <a:blip r:embed="rId3"/>
          <a:stretch>
            <a:fillRect/>
          </a:stretch>
        </p:blipFill>
        <p:spPr>
          <a:xfrm>
            <a:off x="335797" y="6315517"/>
            <a:ext cx="11520407" cy="310052"/>
          </a:xfrm>
          <a:prstGeom prst="rect">
            <a:avLst/>
          </a:prstGeom>
        </p:spPr>
      </p:pic>
      <p:sp>
        <p:nvSpPr>
          <p:cNvPr id="2" name="Text Box 1"/>
          <p:cNvSpPr txBox="1"/>
          <p:nvPr/>
        </p:nvSpPr>
        <p:spPr>
          <a:xfrm>
            <a:off x="1113155" y="1504315"/>
            <a:ext cx="7853680" cy="2177415"/>
          </a:xfrm>
          <a:prstGeom prst="rect">
            <a:avLst/>
          </a:prstGeom>
          <a:noFill/>
        </p:spPr>
        <p:txBody>
          <a:bodyPr wrap="square" rtlCol="0">
            <a:noAutofit/>
          </a:bodyPr>
          <a:lstStyle/>
          <a:p>
            <a:pPr marL="285750" indent="-285750">
              <a:buFont typeface="Arial" panose="020B0604020202090204" pitchFamily="34" charset="0"/>
              <a:buChar char="•"/>
            </a:pPr>
            <a:r>
              <a:rPr lang="en-US" altLang="en-US" sz="2000"/>
              <a:t>World Health Organization (WHO) – Chronic Disease Guidelines</a:t>
            </a:r>
          </a:p>
          <a:p>
            <a:pPr marL="285750" indent="-285750">
              <a:buFont typeface="Arial" panose="020B0604020202090204" pitchFamily="34" charset="0"/>
              <a:buChar char="•"/>
            </a:pPr>
            <a:r>
              <a:rPr lang="en-US" altLang="en-US" sz="2000"/>
              <a:t>American Diabetes Association (ADA) – Diabetes Care Standards</a:t>
            </a:r>
          </a:p>
          <a:p>
            <a:pPr marL="285750" indent="-285750">
              <a:buFont typeface="Arial" panose="020B0604020202090204" pitchFamily="34" charset="0"/>
              <a:buChar char="•"/>
            </a:pPr>
            <a:r>
              <a:rPr lang="en-US" altLang="en-US" sz="2000"/>
              <a:t>American Heart Association (AHA) – Hypertension Guidelines</a:t>
            </a:r>
          </a:p>
          <a:p>
            <a:pPr marL="285750" indent="-285750">
              <a:buFont typeface="Arial" panose="020B0604020202090204" pitchFamily="34" charset="0"/>
              <a:buChar char="•"/>
            </a:pPr>
            <a:r>
              <a:rPr lang="en-US" altLang="en-US" sz="2000"/>
              <a:t>IBM Watsonx.ai &amp; LangFlow Official Documentation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srcRect/>
          <a:stretch>
            <a:fillRect/>
          </a:stretch>
        </p:blipFill>
        <p:spPr>
          <a:xfrm>
            <a:off x="0" y="2190302"/>
            <a:ext cx="12192000" cy="2477396"/>
          </a:xfrm>
          <a:prstGeom prst="rect">
            <a:avLst/>
          </a:prstGeom>
          <a:noFill/>
          <a:ln>
            <a:noFill/>
          </a:ln>
        </p:spPr>
      </p:pic>
      <p:pic>
        <p:nvPicPr>
          <p:cNvPr id="3" name="Picture 2"/>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1192</Words>
  <Application>Microsoft Office PowerPoint</Application>
  <PresentationFormat>Widescreen</PresentationFormat>
  <Paragraphs>123</Paragraphs>
  <Slides>18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Arial Bold</vt:lpstr>
      <vt:lpstr>Calibri</vt:lpstr>
      <vt:lpstr>Times New Roman</vt:lpstr>
      <vt:lpstr>Times New Roman Bold</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Aarush Ajay</cp:lastModifiedBy>
  <cp:revision>119</cp:revision>
  <dcterms:created xsi:type="dcterms:W3CDTF">2026-01-29T17:59:57Z</dcterms:created>
  <dcterms:modified xsi:type="dcterms:W3CDTF">2026-01-30T05:54:12Z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1B99E442AECE5611508D7B6951BCE61E_42</vt:lpwstr>
  </property>
  <property fmtid="{D5CDD505-2E9C-101B-9397-08002B2CF9AE}" pid="3" name="KSOProductBuildVer">
    <vt:lpwstr>1033-6.14.0.8716</vt:lpwstr>
  </property>
</Properties>
</file>